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5"/>
  </p:notesMasterIdLst>
  <p:sldIdLst>
    <p:sldId id="256" r:id="rId5"/>
    <p:sldId id="257" r:id="rId6"/>
    <p:sldId id="258" r:id="rId7"/>
    <p:sldId id="283" r:id="rId8"/>
    <p:sldId id="259" r:id="rId9"/>
    <p:sldId id="260" r:id="rId10"/>
    <p:sldId id="261" r:id="rId11"/>
    <p:sldId id="262" r:id="rId12"/>
    <p:sldId id="1075" r:id="rId13"/>
    <p:sldId id="263" r:id="rId14"/>
    <p:sldId id="264" r:id="rId15"/>
    <p:sldId id="265" r:id="rId16"/>
    <p:sldId id="266" r:id="rId17"/>
    <p:sldId id="267" r:id="rId18"/>
    <p:sldId id="268" r:id="rId19"/>
    <p:sldId id="270" r:id="rId20"/>
    <p:sldId id="271" r:id="rId21"/>
    <p:sldId id="272" r:id="rId22"/>
    <p:sldId id="1076" r:id="rId23"/>
    <p:sldId id="273" r:id="rId24"/>
    <p:sldId id="1077" r:id="rId25"/>
    <p:sldId id="274" r:id="rId26"/>
    <p:sldId id="275" r:id="rId27"/>
    <p:sldId id="276" r:id="rId28"/>
    <p:sldId id="277" r:id="rId29"/>
    <p:sldId id="278" r:id="rId30"/>
    <p:sldId id="1078" r:id="rId31"/>
    <p:sldId id="280" r:id="rId32"/>
    <p:sldId id="281" r:id="rId33"/>
    <p:sldId id="282" r:id="rId3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0E22BBC-AC2E-1E24-31C0-ED9B8F712FE9}" name="Cláudia Naumann" initials="CN" userId="S::naumann_nce.ufrj.br#ext#@cisco.onmicrosoft.com::2c14c15b-0266-4182-83e5-84c7c06e2959" providerId="AD"/>
  <p188:author id="{31CCBEBE-11CE-F1BF-0C9B-F972ACE97E89}" name="ecuyang@gmail.com" initials="e" userId="ecuyang@gmail.com"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BF5"/>
    <a:srgbClr val="B1E8FA"/>
    <a:srgbClr val="AFE8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78F5A8-0A33-47B8-9413-93F1E13533A4}" v="1" dt="2023-03-30T15:40:02.3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09" autoAdjust="0"/>
    <p:restoredTop sz="85781" autoAdjust="0"/>
  </p:normalViewPr>
  <p:slideViewPr>
    <p:cSldViewPr snapToGrid="0">
      <p:cViewPr varScale="1">
        <p:scale>
          <a:sx n="101" d="100"/>
          <a:sy n="101" d="100"/>
        </p:scale>
        <p:origin x="46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ie Nelson" userId="S::brie_elearningdoc.com#ext#@cisco.onmicrosoft.com::712abed6-64c6-4c4c-80f1-14676a42bb74" providerId="AD" clId="Web-{39D6E073-89C6-1A01-CBA7-7A6995F788B9}"/>
    <pc:docChg chg="modSld">
      <pc:chgData name="Brie Nelson" userId="S::brie_elearningdoc.com#ext#@cisco.onmicrosoft.com::712abed6-64c6-4c4c-80f1-14676a42bb74" providerId="AD" clId="Web-{39D6E073-89C6-1A01-CBA7-7A6995F788B9}" dt="2022-10-27T13:22:33.026" v="8"/>
      <pc:docMkLst>
        <pc:docMk/>
      </pc:docMkLst>
      <pc:sldChg chg="modCm">
        <pc:chgData name="Brie Nelson" userId="S::brie_elearningdoc.com#ext#@cisco.onmicrosoft.com::712abed6-64c6-4c4c-80f1-14676a42bb74" providerId="AD" clId="Web-{39D6E073-89C6-1A01-CBA7-7A6995F788B9}" dt="2022-10-27T13:17:58.066" v="0"/>
        <pc:sldMkLst>
          <pc:docMk/>
          <pc:sldMk cId="0" sldId="264"/>
        </pc:sldMkLst>
      </pc:sldChg>
      <pc:sldChg chg="modSp modCm">
        <pc:chgData name="Brie Nelson" userId="S::brie_elearningdoc.com#ext#@cisco.onmicrosoft.com::712abed6-64c6-4c4c-80f1-14676a42bb74" providerId="AD" clId="Web-{39D6E073-89C6-1A01-CBA7-7A6995F788B9}" dt="2022-10-27T13:18:39.661" v="4" actId="14100"/>
        <pc:sldMkLst>
          <pc:docMk/>
          <pc:sldMk cId="0" sldId="265"/>
        </pc:sldMkLst>
        <pc:spChg chg="mod">
          <ac:chgData name="Brie Nelson" userId="S::brie_elearningdoc.com#ext#@cisco.onmicrosoft.com::712abed6-64c6-4c4c-80f1-14676a42bb74" providerId="AD" clId="Web-{39D6E073-89C6-1A01-CBA7-7A6995F788B9}" dt="2022-10-27T13:18:34.614" v="3" actId="1076"/>
          <ac:spMkLst>
            <pc:docMk/>
            <pc:sldMk cId="0" sldId="265"/>
            <ac:spMk id="5" creationId="{00000000-0000-0000-0000-000000000000}"/>
          </ac:spMkLst>
        </pc:spChg>
        <pc:picChg chg="mod">
          <ac:chgData name="Brie Nelson" userId="S::brie_elearningdoc.com#ext#@cisco.onmicrosoft.com::712abed6-64c6-4c4c-80f1-14676a42bb74" providerId="AD" clId="Web-{39D6E073-89C6-1A01-CBA7-7A6995F788B9}" dt="2022-10-27T13:18:39.661" v="4" actId="14100"/>
          <ac:picMkLst>
            <pc:docMk/>
            <pc:sldMk cId="0" sldId="265"/>
            <ac:picMk id="6" creationId="{A87DD0B1-3F71-3A07-38C1-CAB4FD370D12}"/>
          </ac:picMkLst>
        </pc:picChg>
      </pc:sldChg>
      <pc:sldChg chg="modCm">
        <pc:chgData name="Brie Nelson" userId="S::brie_elearningdoc.com#ext#@cisco.onmicrosoft.com::712abed6-64c6-4c4c-80f1-14676a42bb74" providerId="AD" clId="Web-{39D6E073-89C6-1A01-CBA7-7A6995F788B9}" dt="2022-10-27T13:19:47.834" v="5"/>
        <pc:sldMkLst>
          <pc:docMk/>
          <pc:sldMk cId="0" sldId="272"/>
        </pc:sldMkLst>
      </pc:sldChg>
      <pc:sldChg chg="modCm">
        <pc:chgData name="Brie Nelson" userId="S::brie_elearningdoc.com#ext#@cisco.onmicrosoft.com::712abed6-64c6-4c4c-80f1-14676a42bb74" providerId="AD" clId="Web-{39D6E073-89C6-1A01-CBA7-7A6995F788B9}" dt="2022-10-27T13:22:33.026" v="8"/>
        <pc:sldMkLst>
          <pc:docMk/>
          <pc:sldMk cId="0" sldId="282"/>
        </pc:sldMkLst>
      </pc:sldChg>
      <pc:sldChg chg="modCm">
        <pc:chgData name="Brie Nelson" userId="S::brie_elearningdoc.com#ext#@cisco.onmicrosoft.com::712abed6-64c6-4c4c-80f1-14676a42bb74" providerId="AD" clId="Web-{39D6E073-89C6-1A01-CBA7-7A6995F788B9}" dt="2022-10-27T13:20:17.538" v="6"/>
        <pc:sldMkLst>
          <pc:docMk/>
          <pc:sldMk cId="590820456" sldId="1076"/>
        </pc:sldMkLst>
      </pc:sldChg>
      <pc:sldChg chg="modCm">
        <pc:chgData name="Brie Nelson" userId="S::brie_elearningdoc.com#ext#@cisco.onmicrosoft.com::712abed6-64c6-4c4c-80f1-14676a42bb74" providerId="AD" clId="Web-{39D6E073-89C6-1A01-CBA7-7A6995F788B9}" dt="2022-10-27T13:21:10.055" v="7"/>
        <pc:sldMkLst>
          <pc:docMk/>
          <pc:sldMk cId="4253634387" sldId="1077"/>
        </pc:sldMkLst>
      </pc:sldChg>
    </pc:docChg>
  </pc:docChgLst>
  <pc:docChgLst>
    <pc:chgData name="Brie Nelson" userId="S::brie_elearningdoc.com#ext#@cisco.onmicrosoft.com::712abed6-64c6-4c4c-80f1-14676a42bb74" providerId="AD" clId="Web-{282A1DFE-657D-460F-94B8-6875EC7A0BA6}"/>
    <pc:docChg chg="modSld">
      <pc:chgData name="Brie Nelson" userId="S::brie_elearningdoc.com#ext#@cisco.onmicrosoft.com::712abed6-64c6-4c4c-80f1-14676a42bb74" providerId="AD" clId="Web-{282A1DFE-657D-460F-94B8-6875EC7A0BA6}" dt="2022-10-27T14:16:43.137" v="22" actId="20577"/>
      <pc:docMkLst>
        <pc:docMk/>
      </pc:docMkLst>
      <pc:sldChg chg="modSp">
        <pc:chgData name="Brie Nelson" userId="S::brie_elearningdoc.com#ext#@cisco.onmicrosoft.com::712abed6-64c6-4c4c-80f1-14676a42bb74" providerId="AD" clId="Web-{282A1DFE-657D-460F-94B8-6875EC7A0BA6}" dt="2022-10-27T14:16:43.137" v="22" actId="20577"/>
        <pc:sldMkLst>
          <pc:docMk/>
          <pc:sldMk cId="0" sldId="276"/>
        </pc:sldMkLst>
        <pc:spChg chg="mod">
          <ac:chgData name="Brie Nelson" userId="S::brie_elearningdoc.com#ext#@cisco.onmicrosoft.com::712abed6-64c6-4c4c-80f1-14676a42bb74" providerId="AD" clId="Web-{282A1DFE-657D-460F-94B8-6875EC7A0BA6}" dt="2022-10-27T14:16:43.137" v="22" actId="20577"/>
          <ac:spMkLst>
            <pc:docMk/>
            <pc:sldMk cId="0" sldId="276"/>
            <ac:spMk id="5" creationId="{00000000-0000-0000-0000-000000000000}"/>
          </ac:spMkLst>
        </pc:spChg>
      </pc:sldChg>
      <pc:sldChg chg="modSp">
        <pc:chgData name="Brie Nelson" userId="S::brie_elearningdoc.com#ext#@cisco.onmicrosoft.com::712abed6-64c6-4c4c-80f1-14676a42bb74" providerId="AD" clId="Web-{282A1DFE-657D-460F-94B8-6875EC7A0BA6}" dt="2022-10-27T14:16:14.902" v="12" actId="20577"/>
        <pc:sldMkLst>
          <pc:docMk/>
          <pc:sldMk cId="0" sldId="278"/>
        </pc:sldMkLst>
        <pc:spChg chg="mod">
          <ac:chgData name="Brie Nelson" userId="S::brie_elearningdoc.com#ext#@cisco.onmicrosoft.com::712abed6-64c6-4c4c-80f1-14676a42bb74" providerId="AD" clId="Web-{282A1DFE-657D-460F-94B8-6875EC7A0BA6}" dt="2022-10-27T14:16:14.902" v="12" actId="20577"/>
          <ac:spMkLst>
            <pc:docMk/>
            <pc:sldMk cId="0" sldId="278"/>
            <ac:spMk id="5" creationId="{00000000-0000-0000-0000-000000000000}"/>
          </ac:spMkLst>
        </pc:spChg>
      </pc:sldChg>
      <pc:sldChg chg="modSp">
        <pc:chgData name="Brie Nelson" userId="S::brie_elearningdoc.com#ext#@cisco.onmicrosoft.com::712abed6-64c6-4c4c-80f1-14676a42bb74" providerId="AD" clId="Web-{282A1DFE-657D-460F-94B8-6875EC7A0BA6}" dt="2022-10-27T14:16:29.699" v="18" actId="20577"/>
        <pc:sldMkLst>
          <pc:docMk/>
          <pc:sldMk cId="0" sldId="281"/>
        </pc:sldMkLst>
        <pc:spChg chg="mod">
          <ac:chgData name="Brie Nelson" userId="S::brie_elearningdoc.com#ext#@cisco.onmicrosoft.com::712abed6-64c6-4c4c-80f1-14676a42bb74" providerId="AD" clId="Web-{282A1DFE-657D-460F-94B8-6875EC7A0BA6}" dt="2022-10-27T14:16:29.699" v="18" actId="20577"/>
          <ac:spMkLst>
            <pc:docMk/>
            <pc:sldMk cId="0" sldId="281"/>
            <ac:spMk id="5" creationId="{00000000-0000-0000-0000-000000000000}"/>
          </ac:spMkLst>
        </pc:spChg>
      </pc:sldChg>
      <pc:sldChg chg="modSp">
        <pc:chgData name="Brie Nelson" userId="S::brie_elearningdoc.com#ext#@cisco.onmicrosoft.com::712abed6-64c6-4c4c-80f1-14676a42bb74" providerId="AD" clId="Web-{282A1DFE-657D-460F-94B8-6875EC7A0BA6}" dt="2022-10-27T14:16:19.777" v="14" actId="20577"/>
        <pc:sldMkLst>
          <pc:docMk/>
          <pc:sldMk cId="2193778232" sldId="1078"/>
        </pc:sldMkLst>
        <pc:spChg chg="mod">
          <ac:chgData name="Brie Nelson" userId="S::brie_elearningdoc.com#ext#@cisco.onmicrosoft.com::712abed6-64c6-4c4c-80f1-14676a42bb74" providerId="AD" clId="Web-{282A1DFE-657D-460F-94B8-6875EC7A0BA6}" dt="2022-10-27T14:16:19.777" v="14" actId="20577"/>
          <ac:spMkLst>
            <pc:docMk/>
            <pc:sldMk cId="2193778232" sldId="1078"/>
            <ac:spMk id="5" creationId="{00000000-0000-0000-0000-000000000000}"/>
          </ac:spMkLst>
        </pc:spChg>
      </pc:sldChg>
    </pc:docChg>
  </pc:docChgLst>
  <pc:docChgLst>
    <pc:chgData name="Anna Bolen -X (abolen - UNICON INC at Cisco)" userId="8fcf5b57-97b6-40ce-9683-275924855fa8" providerId="ADAL" clId="{E0EB95B2-C16C-4EE1-A0D7-2F4C7491D00F}"/>
    <pc:docChg chg="modSld">
      <pc:chgData name="Anna Bolen -X (abolen - UNICON INC at Cisco)" userId="8fcf5b57-97b6-40ce-9683-275924855fa8" providerId="ADAL" clId="{E0EB95B2-C16C-4EE1-A0D7-2F4C7491D00F}" dt="2023-03-22T15:49:50.100" v="0"/>
      <pc:docMkLst>
        <pc:docMk/>
      </pc:docMkLst>
      <pc:sldChg chg="addSp modSp">
        <pc:chgData name="Anna Bolen -X (abolen - UNICON INC at Cisco)" userId="8fcf5b57-97b6-40ce-9683-275924855fa8" providerId="ADAL" clId="{E0EB95B2-C16C-4EE1-A0D7-2F4C7491D00F}" dt="2023-03-22T15:49:50.100" v="0"/>
        <pc:sldMkLst>
          <pc:docMk/>
          <pc:sldMk cId="0" sldId="260"/>
        </pc:sldMkLst>
        <pc:spChg chg="add mod">
          <ac:chgData name="Anna Bolen -X (abolen - UNICON INC at Cisco)" userId="8fcf5b57-97b6-40ce-9683-275924855fa8" providerId="ADAL" clId="{E0EB95B2-C16C-4EE1-A0D7-2F4C7491D00F}" dt="2023-03-22T15:49:50.100" v="0"/>
          <ac:spMkLst>
            <pc:docMk/>
            <pc:sldMk cId="0" sldId="260"/>
            <ac:spMk id="5" creationId="{30D29610-E14B-E909-8E37-52F7D6D8E6A7}"/>
          </ac:spMkLst>
        </pc:spChg>
      </pc:sldChg>
    </pc:docChg>
  </pc:docChgLst>
  <pc:docChgLst>
    <pc:chgData name="Brie Nelson" userId="S::brie_elearningdoc.com#ext#@cisco.onmicrosoft.com::712abed6-64c6-4c4c-80f1-14676a42bb74" providerId="AD" clId="Web-{98112D0F-844C-BAC8-CE20-8BE8D1AADE43}"/>
    <pc:docChg chg="modSld">
      <pc:chgData name="Brie Nelson" userId="S::brie_elearningdoc.com#ext#@cisco.onmicrosoft.com::712abed6-64c6-4c4c-80f1-14676a42bb74" providerId="AD" clId="Web-{98112D0F-844C-BAC8-CE20-8BE8D1AADE43}" dt="2022-10-27T14:56:10.815" v="7"/>
      <pc:docMkLst>
        <pc:docMk/>
      </pc:docMkLst>
      <pc:sldChg chg="modSp">
        <pc:chgData name="Brie Nelson" userId="S::brie_elearningdoc.com#ext#@cisco.onmicrosoft.com::712abed6-64c6-4c4c-80f1-14676a42bb74" providerId="AD" clId="Web-{98112D0F-844C-BAC8-CE20-8BE8D1AADE43}" dt="2022-10-27T14:32:20.846" v="6" actId="20577"/>
        <pc:sldMkLst>
          <pc:docMk/>
          <pc:sldMk cId="0" sldId="277"/>
        </pc:sldMkLst>
        <pc:spChg chg="mod">
          <ac:chgData name="Brie Nelson" userId="S::brie_elearningdoc.com#ext#@cisco.onmicrosoft.com::712abed6-64c6-4c4c-80f1-14676a42bb74" providerId="AD" clId="Web-{98112D0F-844C-BAC8-CE20-8BE8D1AADE43}" dt="2022-10-27T14:32:20.846" v="6" actId="20577"/>
          <ac:spMkLst>
            <pc:docMk/>
            <pc:sldMk cId="0" sldId="277"/>
            <ac:spMk id="5" creationId="{00000000-0000-0000-0000-000000000000}"/>
          </ac:spMkLst>
        </pc:spChg>
      </pc:sldChg>
      <pc:sldChg chg="modSp">
        <pc:chgData name="Brie Nelson" userId="S::brie_elearningdoc.com#ext#@cisco.onmicrosoft.com::712abed6-64c6-4c4c-80f1-14676a42bb74" providerId="AD" clId="Web-{98112D0F-844C-BAC8-CE20-8BE8D1AADE43}" dt="2022-10-27T14:56:10.815" v="7"/>
        <pc:sldMkLst>
          <pc:docMk/>
          <pc:sldMk cId="1525672446" sldId="1075"/>
        </pc:sldMkLst>
        <pc:graphicFrameChg chg="modGraphic">
          <ac:chgData name="Brie Nelson" userId="S::brie_elearningdoc.com#ext#@cisco.onmicrosoft.com::712abed6-64c6-4c4c-80f1-14676a42bb74" providerId="AD" clId="Web-{98112D0F-844C-BAC8-CE20-8BE8D1AADE43}" dt="2022-10-27T14:56:10.815" v="7"/>
          <ac:graphicFrameMkLst>
            <pc:docMk/>
            <pc:sldMk cId="1525672446" sldId="1075"/>
            <ac:graphicFrameMk id="4" creationId="{40064EF4-EE2B-342C-EA9E-699582F380FF}"/>
          </ac:graphicFrameMkLst>
        </pc:graphicFrameChg>
      </pc:sldChg>
    </pc:docChg>
  </pc:docChgLst>
  <pc:docChgLst>
    <pc:chgData name="Anna Bolen -X (abolen - UNICON INC at Cisco)" userId="8fcf5b57-97b6-40ce-9683-275924855fa8" providerId="ADAL" clId="{DCD85B7F-715B-4E96-8769-A5EA908B2FB3}"/>
    <pc:docChg chg="modSld">
      <pc:chgData name="Anna Bolen -X (abolen - UNICON INC at Cisco)" userId="8fcf5b57-97b6-40ce-9683-275924855fa8" providerId="ADAL" clId="{DCD85B7F-715B-4E96-8769-A5EA908B2FB3}" dt="2022-11-07T17:43:37.458" v="30"/>
      <pc:docMkLst>
        <pc:docMk/>
      </pc:docMkLst>
      <pc:sldChg chg="modSp mod">
        <pc:chgData name="Anna Bolen -X (abolen - UNICON INC at Cisco)" userId="8fcf5b57-97b6-40ce-9683-275924855fa8" providerId="ADAL" clId="{DCD85B7F-715B-4E96-8769-A5EA908B2FB3}" dt="2022-10-31T18:56:50.700" v="10" actId="14100"/>
        <pc:sldMkLst>
          <pc:docMk/>
          <pc:sldMk cId="0" sldId="256"/>
        </pc:sldMkLst>
        <pc:spChg chg="mod">
          <ac:chgData name="Anna Bolen -X (abolen - UNICON INC at Cisco)" userId="8fcf5b57-97b6-40ce-9683-275924855fa8" providerId="ADAL" clId="{DCD85B7F-715B-4E96-8769-A5EA908B2FB3}" dt="2022-10-31T18:56:50.700" v="10" actId="14100"/>
          <ac:spMkLst>
            <pc:docMk/>
            <pc:sldMk cId="0" sldId="256"/>
            <ac:spMk id="2" creationId="{00000000-0000-0000-0000-000000000000}"/>
          </ac:spMkLst>
        </pc:spChg>
      </pc:sldChg>
      <pc:sldChg chg="modSp mod">
        <pc:chgData name="Anna Bolen -X (abolen - UNICON INC at Cisco)" userId="8fcf5b57-97b6-40ce-9683-275924855fa8" providerId="ADAL" clId="{DCD85B7F-715B-4E96-8769-A5EA908B2FB3}" dt="2022-10-31T19:09:28.546" v="27" actId="12"/>
        <pc:sldMkLst>
          <pc:docMk/>
          <pc:sldMk cId="0" sldId="257"/>
        </pc:sldMkLst>
        <pc:spChg chg="mod">
          <ac:chgData name="Anna Bolen -X (abolen - UNICON INC at Cisco)" userId="8fcf5b57-97b6-40ce-9683-275924855fa8" providerId="ADAL" clId="{DCD85B7F-715B-4E96-8769-A5EA908B2FB3}" dt="2022-10-31T19:09:28.546" v="27" actId="12"/>
          <ac:spMkLst>
            <pc:docMk/>
            <pc:sldMk cId="0" sldId="257"/>
            <ac:spMk id="3" creationId="{00000000-0000-0000-0000-000000000000}"/>
          </ac:spMkLst>
        </pc:spChg>
      </pc:sldChg>
      <pc:sldChg chg="delCm modCm">
        <pc:chgData name="Anna Bolen -X (abolen - UNICON INC at Cisco)" userId="8fcf5b57-97b6-40ce-9683-275924855fa8" providerId="ADAL" clId="{DCD85B7F-715B-4E96-8769-A5EA908B2FB3}" dt="2022-10-31T18:49:36.489" v="1"/>
        <pc:sldMkLst>
          <pc:docMk/>
          <pc:sldMk cId="0" sldId="260"/>
        </pc:sldMkLst>
      </pc:sldChg>
      <pc:sldChg chg="modSp mod delCm">
        <pc:chgData name="Anna Bolen -X (abolen - UNICON INC at Cisco)" userId="8fcf5b57-97b6-40ce-9683-275924855fa8" providerId="ADAL" clId="{DCD85B7F-715B-4E96-8769-A5EA908B2FB3}" dt="2022-10-31T18:51:24.681" v="4" actId="14100"/>
        <pc:sldMkLst>
          <pc:docMk/>
          <pc:sldMk cId="0" sldId="264"/>
        </pc:sldMkLst>
        <pc:spChg chg="mod">
          <ac:chgData name="Anna Bolen -X (abolen - UNICON INC at Cisco)" userId="8fcf5b57-97b6-40ce-9683-275924855fa8" providerId="ADAL" clId="{DCD85B7F-715B-4E96-8769-A5EA908B2FB3}" dt="2022-10-31T18:51:24.681" v="4" actId="14100"/>
          <ac:spMkLst>
            <pc:docMk/>
            <pc:sldMk cId="0" sldId="264"/>
            <ac:spMk id="3" creationId="{00000000-0000-0000-0000-000000000000}"/>
          </ac:spMkLst>
        </pc:spChg>
      </pc:sldChg>
      <pc:sldChg chg="delCm">
        <pc:chgData name="Anna Bolen -X (abolen - UNICON INC at Cisco)" userId="8fcf5b57-97b6-40ce-9683-275924855fa8" providerId="ADAL" clId="{DCD85B7F-715B-4E96-8769-A5EA908B2FB3}" dt="2022-11-07T17:43:37.458" v="30"/>
        <pc:sldMkLst>
          <pc:docMk/>
          <pc:sldMk cId="0" sldId="265"/>
        </pc:sldMkLst>
      </pc:sldChg>
      <pc:sldChg chg="modSp mod">
        <pc:chgData name="Anna Bolen -X (abolen - UNICON INC at Cisco)" userId="8fcf5b57-97b6-40ce-9683-275924855fa8" providerId="ADAL" clId="{DCD85B7F-715B-4E96-8769-A5EA908B2FB3}" dt="2022-10-31T18:55:33.596" v="5" actId="14100"/>
        <pc:sldMkLst>
          <pc:docMk/>
          <pc:sldMk cId="0" sldId="267"/>
        </pc:sldMkLst>
        <pc:spChg chg="mod">
          <ac:chgData name="Anna Bolen -X (abolen - UNICON INC at Cisco)" userId="8fcf5b57-97b6-40ce-9683-275924855fa8" providerId="ADAL" clId="{DCD85B7F-715B-4E96-8769-A5EA908B2FB3}" dt="2022-10-31T18:55:33.596" v="5" actId="14100"/>
          <ac:spMkLst>
            <pc:docMk/>
            <pc:sldMk cId="0" sldId="267"/>
            <ac:spMk id="3" creationId="{00000000-0000-0000-0000-000000000000}"/>
          </ac:spMkLst>
        </pc:spChg>
      </pc:sldChg>
      <pc:sldChg chg="modSp mod">
        <pc:chgData name="Anna Bolen -X (abolen - UNICON INC at Cisco)" userId="8fcf5b57-97b6-40ce-9683-275924855fa8" providerId="ADAL" clId="{DCD85B7F-715B-4E96-8769-A5EA908B2FB3}" dt="2022-10-31T18:56:03.050" v="7" actId="255"/>
        <pc:sldMkLst>
          <pc:docMk/>
          <pc:sldMk cId="0" sldId="268"/>
        </pc:sldMkLst>
        <pc:graphicFrameChg chg="modGraphic">
          <ac:chgData name="Anna Bolen -X (abolen - UNICON INC at Cisco)" userId="8fcf5b57-97b6-40ce-9683-275924855fa8" providerId="ADAL" clId="{DCD85B7F-715B-4E96-8769-A5EA908B2FB3}" dt="2022-10-31T18:56:03.050" v="7" actId="255"/>
          <ac:graphicFrameMkLst>
            <pc:docMk/>
            <pc:sldMk cId="0" sldId="268"/>
            <ac:graphicFrameMk id="14" creationId="{00000000-0000-0000-0000-000000000000}"/>
          </ac:graphicFrameMkLst>
        </pc:graphicFrameChg>
      </pc:sldChg>
      <pc:sldChg chg="modSp mod">
        <pc:chgData name="Anna Bolen -X (abolen - UNICON INC at Cisco)" userId="8fcf5b57-97b6-40ce-9683-275924855fa8" providerId="ADAL" clId="{DCD85B7F-715B-4E96-8769-A5EA908B2FB3}" dt="2022-10-31T18:56:24.610" v="8" actId="14100"/>
        <pc:sldMkLst>
          <pc:docMk/>
          <pc:sldMk cId="0" sldId="270"/>
        </pc:sldMkLst>
        <pc:spChg chg="mod">
          <ac:chgData name="Anna Bolen -X (abolen - UNICON INC at Cisco)" userId="8fcf5b57-97b6-40ce-9683-275924855fa8" providerId="ADAL" clId="{DCD85B7F-715B-4E96-8769-A5EA908B2FB3}" dt="2022-10-31T18:56:24.610" v="8" actId="14100"/>
          <ac:spMkLst>
            <pc:docMk/>
            <pc:sldMk cId="0" sldId="270"/>
            <ac:spMk id="3" creationId="{00000000-0000-0000-0000-000000000000}"/>
          </ac:spMkLst>
        </pc:spChg>
      </pc:sldChg>
      <pc:sldChg chg="modSp mod">
        <pc:chgData name="Anna Bolen -X (abolen - UNICON INC at Cisco)" userId="8fcf5b57-97b6-40ce-9683-275924855fa8" providerId="ADAL" clId="{DCD85B7F-715B-4E96-8769-A5EA908B2FB3}" dt="2022-10-31T18:56:36.331" v="9" actId="14100"/>
        <pc:sldMkLst>
          <pc:docMk/>
          <pc:sldMk cId="0" sldId="271"/>
        </pc:sldMkLst>
        <pc:spChg chg="mod">
          <ac:chgData name="Anna Bolen -X (abolen - UNICON INC at Cisco)" userId="8fcf5b57-97b6-40ce-9683-275924855fa8" providerId="ADAL" clId="{DCD85B7F-715B-4E96-8769-A5EA908B2FB3}" dt="2022-10-31T18:56:36.331" v="9" actId="14100"/>
          <ac:spMkLst>
            <pc:docMk/>
            <pc:sldMk cId="0" sldId="271"/>
            <ac:spMk id="2" creationId="{00000000-0000-0000-0000-000000000000}"/>
          </ac:spMkLst>
        </pc:spChg>
      </pc:sldChg>
      <pc:sldChg chg="modSp mod delCm">
        <pc:chgData name="Anna Bolen -X (abolen - UNICON INC at Cisco)" userId="8fcf5b57-97b6-40ce-9683-275924855fa8" providerId="ADAL" clId="{DCD85B7F-715B-4E96-8769-A5EA908B2FB3}" dt="2022-10-31T18:57:15.259" v="13"/>
        <pc:sldMkLst>
          <pc:docMk/>
          <pc:sldMk cId="0" sldId="272"/>
        </pc:sldMkLst>
        <pc:graphicFrameChg chg="modGraphic">
          <ac:chgData name="Anna Bolen -X (abolen - UNICON INC at Cisco)" userId="8fcf5b57-97b6-40ce-9683-275924855fa8" providerId="ADAL" clId="{DCD85B7F-715B-4E96-8769-A5EA908B2FB3}" dt="2022-10-31T18:57:10.017" v="12" actId="255"/>
          <ac:graphicFrameMkLst>
            <pc:docMk/>
            <pc:sldMk cId="0" sldId="272"/>
            <ac:graphicFrameMk id="35" creationId="{00000000-0000-0000-0000-000000000000}"/>
          </ac:graphicFrameMkLst>
        </pc:graphicFrameChg>
      </pc:sldChg>
      <pc:sldChg chg="modSp mod">
        <pc:chgData name="Anna Bolen -X (abolen - UNICON INC at Cisco)" userId="8fcf5b57-97b6-40ce-9683-275924855fa8" providerId="ADAL" clId="{DCD85B7F-715B-4E96-8769-A5EA908B2FB3}" dt="2022-10-31T18:58:31.274" v="19" actId="255"/>
        <pc:sldMkLst>
          <pc:docMk/>
          <pc:sldMk cId="0" sldId="274"/>
        </pc:sldMkLst>
        <pc:graphicFrameChg chg="modGraphic">
          <ac:chgData name="Anna Bolen -X (abolen - UNICON INC at Cisco)" userId="8fcf5b57-97b6-40ce-9683-275924855fa8" providerId="ADAL" clId="{DCD85B7F-715B-4E96-8769-A5EA908B2FB3}" dt="2022-10-31T18:58:31.274" v="19" actId="255"/>
          <ac:graphicFrameMkLst>
            <pc:docMk/>
            <pc:sldMk cId="0" sldId="274"/>
            <ac:graphicFrameMk id="4" creationId="{CD58A51C-F191-CC7C-5975-EF673415A1A8}"/>
          </ac:graphicFrameMkLst>
        </pc:graphicFrameChg>
      </pc:sldChg>
      <pc:sldChg chg="modSp mod">
        <pc:chgData name="Anna Bolen -X (abolen - UNICON INC at Cisco)" userId="8fcf5b57-97b6-40ce-9683-275924855fa8" providerId="ADAL" clId="{DCD85B7F-715B-4E96-8769-A5EA908B2FB3}" dt="2022-10-31T18:59:24.105" v="20" actId="14100"/>
        <pc:sldMkLst>
          <pc:docMk/>
          <pc:sldMk cId="0" sldId="280"/>
        </pc:sldMkLst>
        <pc:spChg chg="mod">
          <ac:chgData name="Anna Bolen -X (abolen - UNICON INC at Cisco)" userId="8fcf5b57-97b6-40ce-9683-275924855fa8" providerId="ADAL" clId="{DCD85B7F-715B-4E96-8769-A5EA908B2FB3}" dt="2022-10-31T18:59:24.105" v="20" actId="14100"/>
          <ac:spMkLst>
            <pc:docMk/>
            <pc:sldMk cId="0" sldId="280"/>
            <ac:spMk id="2" creationId="{00000000-0000-0000-0000-000000000000}"/>
          </ac:spMkLst>
        </pc:spChg>
      </pc:sldChg>
      <pc:sldChg chg="delCm modCm">
        <pc:chgData name="Anna Bolen -X (abolen - UNICON INC at Cisco)" userId="8fcf5b57-97b6-40ce-9683-275924855fa8" providerId="ADAL" clId="{DCD85B7F-715B-4E96-8769-A5EA908B2FB3}" dt="2022-10-31T19:00:03.733" v="23"/>
        <pc:sldMkLst>
          <pc:docMk/>
          <pc:sldMk cId="0" sldId="282"/>
        </pc:sldMkLst>
      </pc:sldChg>
      <pc:sldChg chg="modSp mod delCm modCm">
        <pc:chgData name="Anna Bolen -X (abolen - UNICON INC at Cisco)" userId="8fcf5b57-97b6-40ce-9683-275924855fa8" providerId="ADAL" clId="{DCD85B7F-715B-4E96-8769-A5EA908B2FB3}" dt="2022-11-07T17:43:31.927" v="29"/>
        <pc:sldMkLst>
          <pc:docMk/>
          <pc:sldMk cId="1525672446" sldId="1075"/>
        </pc:sldMkLst>
        <pc:graphicFrameChg chg="mod">
          <ac:chgData name="Anna Bolen -X (abolen - UNICON INC at Cisco)" userId="8fcf5b57-97b6-40ce-9683-275924855fa8" providerId="ADAL" clId="{DCD85B7F-715B-4E96-8769-A5EA908B2FB3}" dt="2022-10-31T18:50:39.773" v="2" actId="1076"/>
          <ac:graphicFrameMkLst>
            <pc:docMk/>
            <pc:sldMk cId="1525672446" sldId="1075"/>
            <ac:graphicFrameMk id="4" creationId="{40064EF4-EE2B-342C-EA9E-699582F380FF}"/>
          </ac:graphicFrameMkLst>
        </pc:graphicFrameChg>
      </pc:sldChg>
      <pc:sldChg chg="modSp mod delCm">
        <pc:chgData name="Anna Bolen -X (abolen - UNICON INC at Cisco)" userId="8fcf5b57-97b6-40ce-9683-275924855fa8" providerId="ADAL" clId="{DCD85B7F-715B-4E96-8769-A5EA908B2FB3}" dt="2022-10-31T18:57:44.803" v="16"/>
        <pc:sldMkLst>
          <pc:docMk/>
          <pc:sldMk cId="590820456" sldId="1076"/>
        </pc:sldMkLst>
        <pc:graphicFrameChg chg="modGraphic">
          <ac:chgData name="Anna Bolen -X (abolen - UNICON INC at Cisco)" userId="8fcf5b57-97b6-40ce-9683-275924855fa8" providerId="ADAL" clId="{DCD85B7F-715B-4E96-8769-A5EA908B2FB3}" dt="2022-10-31T18:57:29.061" v="15" actId="255"/>
          <ac:graphicFrameMkLst>
            <pc:docMk/>
            <pc:sldMk cId="590820456" sldId="1076"/>
            <ac:graphicFrameMk id="35" creationId="{00000000-0000-0000-0000-000000000000}"/>
          </ac:graphicFrameMkLst>
        </pc:graphicFrameChg>
      </pc:sldChg>
      <pc:sldChg chg="delCm">
        <pc:chgData name="Anna Bolen -X (abolen - UNICON INC at Cisco)" userId="8fcf5b57-97b6-40ce-9683-275924855fa8" providerId="ADAL" clId="{DCD85B7F-715B-4E96-8769-A5EA908B2FB3}" dt="2022-10-31T18:58:09.458" v="17"/>
        <pc:sldMkLst>
          <pc:docMk/>
          <pc:sldMk cId="4253634387" sldId="1077"/>
        </pc:sldMkLst>
      </pc:sldChg>
    </pc:docChg>
  </pc:docChgLst>
  <pc:docChgLst>
    <pc:chgData name="Anna Bolen -X (abolen - UNICON INC at Cisco)" userId="8fcf5b57-97b6-40ce-9683-275924855fa8" providerId="ADAL" clId="{D978F5A8-0A33-47B8-9413-93F1E13533A4}"/>
    <pc:docChg chg="modSld">
      <pc:chgData name="Anna Bolen -X (abolen - UNICON INC at Cisco)" userId="8fcf5b57-97b6-40ce-9683-275924855fa8" providerId="ADAL" clId="{D978F5A8-0A33-47B8-9413-93F1E13533A4}" dt="2023-03-30T15:40:02.336" v="0"/>
      <pc:docMkLst>
        <pc:docMk/>
      </pc:docMkLst>
      <pc:sldChg chg="modSp modNotes">
        <pc:chgData name="Anna Bolen -X (abolen - UNICON INC at Cisco)" userId="8fcf5b57-97b6-40ce-9683-275924855fa8" providerId="ADAL" clId="{D978F5A8-0A33-47B8-9413-93F1E13533A4}" dt="2023-03-30T15:40:02.336" v="0"/>
        <pc:sldMkLst>
          <pc:docMk/>
          <pc:sldMk cId="0" sldId="256"/>
        </pc:sldMkLst>
        <pc:spChg chg="mod">
          <ac:chgData name="Anna Bolen -X (abolen - UNICON INC at Cisco)" userId="8fcf5b57-97b6-40ce-9683-275924855fa8" providerId="ADAL" clId="{D978F5A8-0A33-47B8-9413-93F1E13533A4}" dt="2023-03-30T15:40:02.336" v="0"/>
          <ac:spMkLst>
            <pc:docMk/>
            <pc:sldMk cId="0" sldId="256"/>
            <ac:spMk id="4" creationId="{00000000-0000-0000-0000-000000000000}"/>
          </ac:spMkLst>
        </pc:spChg>
      </pc:sldChg>
      <pc:sldChg chg="modSp modNotes">
        <pc:chgData name="Anna Bolen -X (abolen - UNICON INC at Cisco)" userId="8fcf5b57-97b6-40ce-9683-275924855fa8" providerId="ADAL" clId="{D978F5A8-0A33-47B8-9413-93F1E13533A4}" dt="2023-03-30T15:40:02.336" v="0"/>
        <pc:sldMkLst>
          <pc:docMk/>
          <pc:sldMk cId="0" sldId="262"/>
        </pc:sldMkLst>
        <pc:spChg chg="mod">
          <ac:chgData name="Anna Bolen -X (abolen - UNICON INC at Cisco)" userId="8fcf5b57-97b6-40ce-9683-275924855fa8" providerId="ADAL" clId="{D978F5A8-0A33-47B8-9413-93F1E13533A4}" dt="2023-03-30T15:40:02.336" v="0"/>
          <ac:spMkLst>
            <pc:docMk/>
            <pc:sldMk cId="0" sldId="262"/>
            <ac:spMk id="3" creationId="{00000000-0000-0000-0000-000000000000}"/>
          </ac:spMkLst>
        </pc:spChg>
      </pc:sldChg>
    </pc:docChg>
  </pc:docChgLst>
  <pc:docChgLst>
    <pc:chgData name="Anna Bolen -X (abolen - UNICON INC at Cisco)" userId="8fcf5b57-97b6-40ce-9683-275924855fa8" providerId="ADAL" clId="{FD04A942-B0E3-4265-BA24-1450E8107D02}"/>
    <pc:docChg chg="modSld">
      <pc:chgData name="Anna Bolen -X (abolen - UNICON INC at Cisco)" userId="8fcf5b57-97b6-40ce-9683-275924855fa8" providerId="ADAL" clId="{FD04A942-B0E3-4265-BA24-1450E8107D02}" dt="2022-12-16T18:17:39.605" v="6" actId="20577"/>
      <pc:docMkLst>
        <pc:docMk/>
      </pc:docMkLst>
      <pc:sldChg chg="mod modShow">
        <pc:chgData name="Anna Bolen -X (abolen - UNICON INC at Cisco)" userId="8fcf5b57-97b6-40ce-9683-275924855fa8" providerId="ADAL" clId="{FD04A942-B0E3-4265-BA24-1450E8107D02}" dt="2022-12-13T21:12:14.159" v="1" actId="729"/>
        <pc:sldMkLst>
          <pc:docMk/>
          <pc:sldMk cId="0" sldId="256"/>
        </pc:sldMkLst>
      </pc:sldChg>
      <pc:sldChg chg="modSp mod modShow">
        <pc:chgData name="Anna Bolen -X (abolen - UNICON INC at Cisco)" userId="8fcf5b57-97b6-40ce-9683-275924855fa8" providerId="ADAL" clId="{FD04A942-B0E3-4265-BA24-1450E8107D02}" dt="2022-12-16T18:17:23.485" v="2" actId="6549"/>
        <pc:sldMkLst>
          <pc:docMk/>
          <pc:sldMk cId="0" sldId="257"/>
        </pc:sldMkLst>
        <pc:spChg chg="mod">
          <ac:chgData name="Anna Bolen -X (abolen - UNICON INC at Cisco)" userId="8fcf5b57-97b6-40ce-9683-275924855fa8" providerId="ADAL" clId="{FD04A942-B0E3-4265-BA24-1450E8107D02}" dt="2022-12-16T18:17:23.485" v="2" actId="6549"/>
          <ac:spMkLst>
            <pc:docMk/>
            <pc:sldMk cId="0" sldId="257"/>
            <ac:spMk id="3" creationId="{00000000-0000-0000-0000-000000000000}"/>
          </ac:spMkLst>
        </pc:spChg>
      </pc:sldChg>
      <pc:sldChg chg="mod modShow">
        <pc:chgData name="Anna Bolen -X (abolen - UNICON INC at Cisco)" userId="8fcf5b57-97b6-40ce-9683-275924855fa8" providerId="ADAL" clId="{FD04A942-B0E3-4265-BA24-1450E8107D02}" dt="2022-12-01T17:50:50.915" v="0" actId="729"/>
        <pc:sldMkLst>
          <pc:docMk/>
          <pc:sldMk cId="0" sldId="258"/>
        </pc:sldMkLst>
      </pc:sldChg>
      <pc:sldChg chg="mod modShow">
        <pc:chgData name="Anna Bolen -X (abolen - UNICON INC at Cisco)" userId="8fcf5b57-97b6-40ce-9683-275924855fa8" providerId="ADAL" clId="{FD04A942-B0E3-4265-BA24-1450E8107D02}" dt="2022-12-01T17:50:50.915" v="0" actId="729"/>
        <pc:sldMkLst>
          <pc:docMk/>
          <pc:sldMk cId="0" sldId="259"/>
        </pc:sldMkLst>
      </pc:sldChg>
      <pc:sldChg chg="mod modShow">
        <pc:chgData name="Anna Bolen -X (abolen - UNICON INC at Cisco)" userId="8fcf5b57-97b6-40ce-9683-275924855fa8" providerId="ADAL" clId="{FD04A942-B0E3-4265-BA24-1450E8107D02}" dt="2022-12-01T17:50:50.915" v="0" actId="729"/>
        <pc:sldMkLst>
          <pc:docMk/>
          <pc:sldMk cId="0" sldId="260"/>
        </pc:sldMkLst>
      </pc:sldChg>
      <pc:sldChg chg="mod modShow">
        <pc:chgData name="Anna Bolen -X (abolen - UNICON INC at Cisco)" userId="8fcf5b57-97b6-40ce-9683-275924855fa8" providerId="ADAL" clId="{FD04A942-B0E3-4265-BA24-1450E8107D02}" dt="2022-12-01T17:50:50.915" v="0" actId="729"/>
        <pc:sldMkLst>
          <pc:docMk/>
          <pc:sldMk cId="0" sldId="261"/>
        </pc:sldMkLst>
      </pc:sldChg>
      <pc:sldChg chg="modSp mod modShow">
        <pc:chgData name="Anna Bolen -X (abolen - UNICON INC at Cisco)" userId="8fcf5b57-97b6-40ce-9683-275924855fa8" providerId="ADAL" clId="{FD04A942-B0E3-4265-BA24-1450E8107D02}" dt="2022-12-16T18:17:39.605" v="6" actId="20577"/>
        <pc:sldMkLst>
          <pc:docMk/>
          <pc:sldMk cId="0" sldId="282"/>
        </pc:sldMkLst>
        <pc:spChg chg="mod">
          <ac:chgData name="Anna Bolen -X (abolen - UNICON INC at Cisco)" userId="8fcf5b57-97b6-40ce-9683-275924855fa8" providerId="ADAL" clId="{FD04A942-B0E3-4265-BA24-1450E8107D02}" dt="2022-12-16T18:17:39.605" v="6" actId="20577"/>
          <ac:spMkLst>
            <pc:docMk/>
            <pc:sldMk cId="0" sldId="282"/>
            <ac:spMk id="2" creationId="{00000000-0000-0000-0000-000000000000}"/>
          </ac:spMkLst>
        </pc:spChg>
      </pc:sldChg>
      <pc:sldChg chg="mod modShow">
        <pc:chgData name="Anna Bolen -X (abolen - UNICON INC at Cisco)" userId="8fcf5b57-97b6-40ce-9683-275924855fa8" providerId="ADAL" clId="{FD04A942-B0E3-4265-BA24-1450E8107D02}" dt="2022-12-01T17:50:50.915" v="0" actId="729"/>
        <pc:sldMkLst>
          <pc:docMk/>
          <pc:sldMk cId="3646659896" sldId="28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EF142BBD-8EA5-4757-AF1F-343827F7F5D3}" type="datetimeFigureOut">
              <a:t>3/30/2023</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86975328-F5FB-47C2-B984-54918518D99A}" type="slidenum">
              <a:t>‹#›</a:t>
            </a:fld>
            <a:endParaRPr lang="en-US"/>
          </a:p>
        </p:txBody>
      </p:sp>
    </p:spTree>
    <p:extLst>
      <p:ext uri="{BB962C8B-B14F-4D97-AF65-F5344CB8AC3E}">
        <p14:creationId xmlns:p14="http://schemas.microsoft.com/office/powerpoint/2010/main" val="25818510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Cybersecurity Essentials 3.0
Module 2: Securing Networks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9636647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Cybersecurity Essentials 3.0
Module 2: Securing Networks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34823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 Securing Networks
2.1: Current State of Affairs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 Securing Networks
2.1: Current State of Affairs
2.1.1: Video - Anatomy of an Attack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 Securing Networks
2.1: Current State of Affairs
2.1.2: Networks Are Targets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 Securing Networks
2.1: Current State of Affairs
2.1.3: Reasons for Network Security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 Securing Networks
2.1: Current State of Affairs
2.1.4: Vectors of Network Attacks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 Securing Networks
2.1: Current State of Affairs
2.1.5: Data Loss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 Securing Networks
2.1: Current State of Affairs</a:t>
            </a:r>
          </a:p>
          <a:p>
            <a:r>
              <a:rPr lang="en-US"/>
              <a:t>2.1.6: PT Video – Investigate a Threat Landscape
2.1.7: Packet Tracer - Investigate a Threat Landscape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 Securing Networks
2.2: Who is Attacking Our Network?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 Securing Networks
2.2: Who is Attacking Our Network?
2.2.1: Threat, Vulnerability, and Risk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 Securing Networks
2.2: Who is Attacking Our Network?
2.2.1: Threat, Vulnerability, and Risk</a:t>
            </a:r>
          </a:p>
          <a:p>
            <a:r>
              <a:rPr lang="en-US"/>
              <a:t>2.2.1: Threat, Vulnerability, and Risk (Cont.)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2963418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 Securing Networks
2.2: Who is Attacking Our Network?
2.2.2: Hacker vs. Threat Actor
</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 Securing Networks
2.2: Who is Attacking Our Network?</a:t>
            </a:r>
            <a:endParaRPr lang="en-US">
              <a:cs typeface="Calibri"/>
            </a:endParaRPr>
          </a:p>
          <a:p>
            <a:r>
              <a:rPr lang="en-US"/>
              <a:t>2.2.2: Hacker vs. Threat Actor (Cont.)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8788011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 Securing Networks
2.2: Who is Attacking Our Network?
2.2.3: Evolution of Threat Actors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 Securing Networks
2.2: Who is Attacking Our Network?
2.2.4: Cybercriminals
</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 Securing Networks
2.2: Who is Attacking Our Network?
2.2.5: Cybersecurity Tasks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 Securing Networks
2.2: Who is Attacking Our Network?
2.2.6: Cyber Threat Indicators
</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 Securing Networks
2.2: Who is Attacking Our Network?
2.2.7: Threat Sharing and Building Cybersecurity Awareness
</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 Securing Networks
2.2: Who is Attacking Our Network?</a:t>
            </a:r>
            <a:endParaRPr lang="en-US">
              <a:cs typeface="Calibri"/>
            </a:endParaRPr>
          </a:p>
          <a:p>
            <a:r>
              <a:rPr lang="en-US"/>
              <a:t>2.2.7: Threat Sharing and Building Cybersecurity Awareness (Cont.)
2.2.8: Check Your Understanding – What Color is my Hat?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37613774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 Securing Networks
2.3: Securing Networks Summary
</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 Securing Networks
2.3: Securing Networks Summary
2.3.1: What Did I Learn in this Module?</a:t>
            </a:r>
          </a:p>
          <a:p>
            <a:r>
              <a:rPr lang="en-US"/>
              <a:t>2.3.2: Securing Networks Quiz
</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 Securing Networks
2.3: Securing Networks Summary
New Terms and Commands
</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1543050"/>
            <a:ext cx="6400800" cy="1828800"/>
          </a:xfrm>
          <a:prstGeom prst="rect">
            <a:avLst/>
          </a:prstGeom>
          <a:noFill/>
          <a:ln/>
        </p:spPr>
        <p:txBody>
          <a:bodyPr wrap="square" rtlCol="0"/>
          <a:lstStyle>
            <a:lvl1pPr marL="0" indent="0">
              <a:buNone/>
              <a:defRPr lang="en-US" sz="3600" dirty="0">
                <a:solidFill>
                  <a:srgbClr val="AFE8FB"/>
                </a:solidFill>
                <a:latin typeface="Arial" pitchFamily="34" charset="0"/>
                <a:ea typeface="Arial" pitchFamily="34" charset="-122"/>
                <a:cs typeface="Arial" pitchFamily="34" charset="-120"/>
              </a:defRPr>
            </a:lvl1pPr>
          </a:lstStyle>
          <a:p>
            <a:pPr marL="0" indent="0">
              <a:buNone/>
            </a:pPr>
            <a:r>
              <a:rPr lang="en-US" sz="3600">
                <a:solidFill>
                  <a:srgbClr val="AFE8FB"/>
                </a:solidFill>
                <a:latin typeface="Arial" pitchFamily="34" charset="0"/>
                <a:ea typeface="Arial" pitchFamily="34" charset="-122"/>
                <a:cs typeface="Arial" pitchFamily="34" charset="-120"/>
              </a:rPr>
              <a:t>(custom placeholder text!)</a:t>
            </a:r>
            <a:endParaRPr lang="en-US" sz="3600"/>
          </a:p>
        </p:txBody>
      </p:sp>
      <p:sp>
        <p:nvSpPr>
          <p:cNvPr id="3" name="Text 0"/>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a:solidFill>
                  <a:srgbClr val="AFE8FB"/>
                </a:solidFill>
                <a:latin typeface="Arial" pitchFamily="34" charset="0"/>
                <a:ea typeface="Arial" pitchFamily="34" charset="-122"/>
                <a:cs typeface="Arial" pitchFamily="34" charset="-120"/>
              </a:rPr>
              <a:t>(custom placeholder text!)</a:t>
            </a:r>
            <a:endParaRPr lang="en-US" sz="1200"/>
          </a:p>
        </p:txBody>
      </p:sp>
      <p:pic>
        <p:nvPicPr>
          <p:cNvPr id="4" name="Image 0" descr="C:/Users/ahungerf/git/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_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1543050"/>
            <a:ext cx="6400800" cy="2571750"/>
          </a:xfrm>
          <a:prstGeom prst="rect">
            <a:avLst/>
          </a:prstGeom>
          <a:noFill/>
          <a:ln/>
        </p:spPr>
        <p:txBody>
          <a:bodyPr wrap="square" rtlCol="0"/>
          <a:lstStyle>
            <a:lvl1pPr marL="0" indent="0">
              <a:buNone/>
              <a:defRPr lang="en-US" sz="4200" dirty="0">
                <a:solidFill>
                  <a:srgbClr val="AFE8FB"/>
                </a:solidFill>
                <a:latin typeface="Arial" pitchFamily="34" charset="0"/>
                <a:ea typeface="Arial" pitchFamily="34" charset="-122"/>
                <a:cs typeface="Arial" pitchFamily="34" charset="-120"/>
              </a:defRPr>
            </a:lvl1pPr>
          </a:lstStyle>
          <a:p>
            <a:pPr marL="0" indent="0">
              <a:buNone/>
            </a:pPr>
            <a:r>
              <a:rPr lang="en-US" sz="4200">
                <a:solidFill>
                  <a:srgbClr val="AFE8FB"/>
                </a:solidFill>
                <a:latin typeface="Arial" pitchFamily="34" charset="0"/>
                <a:ea typeface="Arial" pitchFamily="34" charset="-122"/>
                <a:cs typeface="Arial" pitchFamily="34" charset="-120"/>
              </a:rPr>
              <a:t>(custom placeholder text!)</a:t>
            </a:r>
            <a:endParaRPr lang="en-US" sz="4200"/>
          </a:p>
        </p:txBody>
      </p:sp>
      <p:sp>
        <p:nvSpPr>
          <p:cNvPr id="3" name="Text 0"/>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a:solidFill>
                  <a:srgbClr val="AFE8FB"/>
                </a:solidFill>
                <a:latin typeface="Arial" pitchFamily="34" charset="0"/>
                <a:ea typeface="Arial" pitchFamily="34" charset="-122"/>
                <a:cs typeface="Arial" pitchFamily="34" charset="-120"/>
              </a:rPr>
              <a:t>(custom placeholder text!)</a:t>
            </a:r>
            <a:endParaRPr lang="en-US" sz="1200"/>
          </a:p>
        </p:txBody>
      </p:sp>
      <p:pic>
        <p:nvPicPr>
          <p:cNvPr id="4" name="Image 0" descr="C:/Users/ahungerf/git/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a:solidFill>
                  <a:srgbClr val="024C69"/>
                </a:solidFill>
                <a:latin typeface="Arial" pitchFamily="34" charset="0"/>
                <a:ea typeface="Arial" pitchFamily="34" charset="-122"/>
                <a:cs typeface="Arial" pitchFamily="34" charset="-120"/>
              </a:rPr>
              <a:t>(custom placeholder text!)</a:t>
            </a:r>
            <a:endParaRPr lang="en-US" sz="1600"/>
          </a:p>
        </p:txBody>
      </p:sp>
      <p:sp>
        <p:nvSpPr>
          <p:cNvPr id="3" name="Text 0"/>
          <p:cNvSpPr/>
          <p:nvPr/>
        </p:nvSpPr>
        <p:spPr>
          <a:xfrm>
            <a:off x="914400" y="4629150"/>
            <a:ext cx="7772400" cy="228600"/>
          </a:xfrm>
          <a:prstGeom prst="rect">
            <a:avLst/>
          </a:prstGeom>
          <a:noFill/>
          <a:ln/>
        </p:spPr>
        <p:txBody>
          <a:bodyPr wrap="square" rtlCol="0" anchor="t">
            <a:normAutofit/>
          </a:bodyPr>
          <a:lstStyle/>
          <a:p>
            <a:pPr algn="r"/>
            <a:r>
              <a:rPr lang="en-US" sz="600">
                <a:solidFill>
                  <a:srgbClr val="D9D9D9"/>
                </a:solidFill>
              </a:rPr>
              <a:t>© 2020  Cisco and/or its affiliates. All rights reserved.   Cisco Confidential</a:t>
            </a:r>
            <a:endParaRPr lang="en-US" sz="600"/>
          </a:p>
        </p:txBody>
      </p:sp>
      <p:pic>
        <p:nvPicPr>
          <p:cNvPr id="4" name="Image 0" descr="C:/Users/ahungerf/git/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OCK">
    <p:bg>
      <p:bgPr>
        <a:solidFill>
          <a:srgbClr val="00394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400"/>
            <a:ext cx="8229600" cy="914400"/>
          </a:xfrm>
          <a:prstGeom prst="rect">
            <a:avLst/>
          </a:prstGeom>
          <a:noFill/>
          <a:ln/>
        </p:spPr>
        <p:txBody>
          <a:bodyPr wrap="square" rtlCol="0"/>
          <a:lstStyle>
            <a:lvl1pPr marL="0" indent="0">
              <a:buNone/>
              <a:defRPr lang="en-US" sz="4600" dirty="0">
                <a:solidFill>
                  <a:srgbClr val="B1E8FA"/>
                </a:solidFill>
                <a:latin typeface="Arial" pitchFamily="34" charset="0"/>
                <a:ea typeface="Arial" pitchFamily="34" charset="-122"/>
                <a:cs typeface="Arial" pitchFamily="34" charset="-120"/>
              </a:defRPr>
            </a:lvl1pPr>
          </a:lstStyle>
          <a:p>
            <a:pPr marL="0" indent="0">
              <a:buNone/>
            </a:pPr>
            <a:r>
              <a:rPr lang="en-US" sz="4600">
                <a:solidFill>
                  <a:srgbClr val="B1E8FA"/>
                </a:solidFill>
                <a:latin typeface="Arial" pitchFamily="34" charset="0"/>
                <a:ea typeface="Arial" pitchFamily="34" charset="-122"/>
                <a:cs typeface="Arial" pitchFamily="34" charset="-120"/>
              </a:rPr>
              <a:t>(custom placeholder text!)</a:t>
            </a:r>
            <a:endParaRPr lang="en-US" sz="4600"/>
          </a:p>
        </p:txBody>
      </p:sp>
      <p:sp>
        <p:nvSpPr>
          <p:cNvPr id="3" name="Text 0"/>
          <p:cNvSpPr/>
          <p:nvPr/>
        </p:nvSpPr>
        <p:spPr>
          <a:xfrm>
            <a:off x="914400" y="4629150"/>
            <a:ext cx="7772400" cy="228600"/>
          </a:xfrm>
          <a:prstGeom prst="rect">
            <a:avLst/>
          </a:prstGeom>
          <a:noFill/>
          <a:ln/>
        </p:spPr>
        <p:txBody>
          <a:bodyPr wrap="square" rtlCol="0" anchor="t">
            <a:normAutofit/>
          </a:bodyPr>
          <a:lstStyle/>
          <a:p>
            <a:pPr algn="r"/>
            <a:r>
              <a:rPr lang="en-US" sz="600">
                <a:solidFill>
                  <a:srgbClr val="D9D9D9"/>
                </a:solidFill>
              </a:rPr>
              <a:t>© 2020  Cisco and/or its affiliates. All rights reserved.   Cisco Confidential</a:t>
            </a:r>
            <a:endParaRPr lang="en-US" sz="600"/>
          </a:p>
        </p:txBody>
      </p:sp>
      <p:pic>
        <p:nvPicPr>
          <p:cNvPr id="4" name="Image 0" descr="C:/Users/ahungerf/git/netacad-vudu/src/pptx/assets/Cisco_logo_sm.png"/>
          <p:cNvPicPr>
            <a:picLocks noChangeAspect="1"/>
          </p:cNvPicPr>
          <p:nvPr/>
        </p:nvPicPr>
        <p:blipFill>
          <a:blip r:embed="rId2"/>
          <a:srcRect t="-16667" b="-16667"/>
          <a:stretch/>
        </p:blipFill>
        <p:spPr>
          <a:xfrm>
            <a:off x="457200" y="4629150"/>
            <a:ext cx="365760" cy="365760"/>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UNK">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274320"/>
            <a:ext cx="9144000" cy="914400"/>
          </a:xfrm>
          <a:prstGeom prst="rect">
            <a:avLst/>
          </a:prstGeom>
          <a:noFill/>
          <a:ln/>
        </p:spPr>
        <p:txBody>
          <a:bodyPr wrap="square" rtlCol="0"/>
          <a:lstStyle>
            <a:lvl1pPr marL="0" indent="0">
              <a:buNone/>
              <a:defRPr lang="en-US" sz="2200" dirty="0">
                <a:solidFill>
                  <a:srgbClr val="024C69"/>
                </a:solidFill>
                <a:latin typeface="Arial" pitchFamily="34" charset="0"/>
                <a:ea typeface="Arial" pitchFamily="34" charset="-122"/>
                <a:cs typeface="Arial" pitchFamily="34" charset="-120"/>
              </a:defRPr>
            </a:lvl1pPr>
          </a:lstStyle>
          <a:p>
            <a:pPr marL="0" indent="0">
              <a:buNone/>
            </a:pPr>
            <a:r>
              <a:rPr lang="en-US" sz="2200">
                <a:solidFill>
                  <a:srgbClr val="024C69"/>
                </a:solidFill>
                <a:latin typeface="Arial" pitchFamily="34" charset="0"/>
                <a:ea typeface="Arial" pitchFamily="34" charset="-122"/>
                <a:cs typeface="Arial" pitchFamily="34" charset="-120"/>
              </a:rPr>
              <a:t>(custom placeholder text!)</a:t>
            </a:r>
            <a:endParaRPr lang="en-US" sz="2200"/>
          </a:p>
        </p:txBody>
      </p:sp>
      <p:sp>
        <p:nvSpPr>
          <p:cNvPr id="3" name="Text 0"/>
          <p:cNvSpPr>
            <a:spLocks noGrp="1"/>
          </p:cNvSpPr>
          <p:nvPr>
            <p:ph type="body" idx="101"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a:solidFill>
                  <a:srgbClr val="024C69"/>
                </a:solidFill>
                <a:latin typeface="Arial" pitchFamily="34" charset="0"/>
                <a:ea typeface="Arial" pitchFamily="34" charset="-122"/>
                <a:cs typeface="Arial" pitchFamily="34" charset="-120"/>
              </a:rPr>
              <a:t>(custom placeholder text!)</a:t>
            </a:r>
            <a:endParaRPr lang="en-US" sz="1600"/>
          </a:p>
        </p:txBody>
      </p:sp>
      <p:sp>
        <p:nvSpPr>
          <p:cNvPr id="4" name="Text 0"/>
          <p:cNvSpPr/>
          <p:nvPr/>
        </p:nvSpPr>
        <p:spPr>
          <a:xfrm>
            <a:off x="914400" y="4629150"/>
            <a:ext cx="7772400" cy="228600"/>
          </a:xfrm>
          <a:prstGeom prst="rect">
            <a:avLst/>
          </a:prstGeom>
          <a:noFill/>
          <a:ln/>
        </p:spPr>
        <p:txBody>
          <a:bodyPr wrap="square" rtlCol="0" anchor="t">
            <a:normAutofit/>
          </a:bodyPr>
          <a:lstStyle/>
          <a:p>
            <a:pPr algn="r"/>
            <a:r>
              <a:rPr lang="en-US" sz="600">
                <a:solidFill>
                  <a:srgbClr val="D9D9D9"/>
                </a:solidFill>
              </a:rPr>
              <a:t>© 2020  Cisco and/or its affiliates. All rights reserved.   Cisco Confidential</a:t>
            </a:r>
            <a:endParaRPr lang="en-US" sz="600"/>
          </a:p>
        </p:txBody>
      </p:sp>
      <p:pic>
        <p:nvPicPr>
          <p:cNvPr id="5" name="Image 0" descr="C:/Users/ahungerf/git/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hyperlink" Target="https://cybermap.kaspersky.com/" TargetMode="External"/><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0">
  <p:cSld name="Slide 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1543050"/>
            <a:ext cx="6400800" cy="1333965"/>
          </a:xfrm>
          <a:prstGeom prst="rect">
            <a:avLst/>
          </a:prstGeom>
          <a:noFill/>
          <a:ln/>
        </p:spPr>
        <p:txBody>
          <a:bodyPr wrap="square" rtlCol="0" anchor="t"/>
          <a:lstStyle/>
          <a:p>
            <a:pPr marL="0" indent="0">
              <a:buNone/>
            </a:pPr>
            <a:r>
              <a:rPr lang="en-US" sz="3600" dirty="0">
                <a:solidFill>
                  <a:srgbClr val="AFE8FB"/>
                </a:solidFill>
                <a:latin typeface="Arial" pitchFamily="34" charset="0"/>
                <a:ea typeface="Arial" pitchFamily="34" charset="-122"/>
                <a:cs typeface="Arial" pitchFamily="34" charset="-120"/>
              </a:rPr>
              <a:t>Module 2: Securing Networks</a:t>
            </a:r>
            <a:endParaRPr lang="en-US" sz="3600" dirty="0"/>
          </a:p>
        </p:txBody>
      </p:sp>
      <p:sp>
        <p:nvSpPr>
          <p:cNvPr id="3" name="Text 1"/>
          <p:cNvSpPr/>
          <p:nvPr/>
        </p:nvSpPr>
        <p:spPr>
          <a:xfrm>
            <a:off x="457200" y="3343275"/>
            <a:ext cx="3657600" cy="914400"/>
          </a:xfrm>
          <a:prstGeom prst="rect">
            <a:avLst/>
          </a:prstGeom>
          <a:noFill/>
          <a:ln/>
        </p:spPr>
        <p:txBody>
          <a:bodyPr wrap="square" rtlCol="0" anchor="t"/>
          <a:lstStyle/>
          <a:p>
            <a:r>
              <a:rPr lang="en-US" sz="2000">
                <a:solidFill>
                  <a:srgbClr val="CEE8C3"/>
                </a:solidFill>
                <a:latin typeface="Arial" pitchFamily="34" charset="0"/>
                <a:ea typeface="Arial" pitchFamily="34" charset="-122"/>
                <a:cs typeface="Arial" pitchFamily="34" charset="-120"/>
              </a:rPr>
              <a:t>Instructor Materials</a:t>
            </a:r>
            <a:endParaRPr lang="en-US" sz="2000"/>
          </a:p>
        </p:txBody>
      </p:sp>
      <p:sp>
        <p:nvSpPr>
          <p:cNvPr id="4" name="Text 0"/>
          <p:cNvSpPr>
            <a:spLocks noGrp="1"/>
          </p:cNvSpPr>
          <p:nvPr>
            <p:ph type="body" idx="101" hasCustomPrompt="1"/>
          </p:nvPr>
        </p:nvSpPr>
        <p:spPr>
          <a:xfrm>
            <a:off x="457200" y="4114800"/>
            <a:ext cx="3657600" cy="914400"/>
          </a:xfrm>
          <a:prstGeom prst="rect">
            <a:avLst/>
          </a:prstGeom>
          <a:noFill/>
          <a:ln/>
        </p:spPr>
        <p:txBody>
          <a:bodyPr wrap="square" rtlCol="0" anchor="t"/>
          <a:lstStyle/>
          <a:p>
            <a:pPr marL="0" indent="0">
              <a:buNone/>
            </a:pPr>
            <a:r>
              <a:rPr lang="en-US" sz="1200" dirty="0">
                <a:solidFill>
                  <a:srgbClr val="AFE8FB"/>
                </a:solidFill>
                <a:latin typeface="Arial" pitchFamily="34" charset="0"/>
                <a:ea typeface="Arial" pitchFamily="34" charset="-122"/>
                <a:cs typeface="Arial" pitchFamily="34" charset="-120"/>
              </a:rPr>
              <a:t>Cybersecurity Essentials 3.0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Instructor Materials – Module 2 Planning Guide</a:t>
            </a:r>
            <a:endParaRPr lang="en-US" sz="1600"/>
          </a:p>
        </p:txBody>
      </p:sp>
      <p:sp>
        <p:nvSpPr>
          <p:cNvPr id="3" name="Text 1"/>
          <p:cNvSpPr/>
          <p:nvPr/>
        </p:nvSpPr>
        <p:spPr>
          <a:xfrm>
            <a:off x="0" y="457200"/>
            <a:ext cx="8229600" cy="4629150"/>
          </a:xfrm>
          <a:prstGeom prst="rect">
            <a:avLst/>
          </a:prstGeom>
          <a:noFill/>
          <a:ln/>
        </p:spPr>
        <p:txBody>
          <a:bodyPr wrap="square" lIns="91440" tIns="45720" rIns="91440" bIns="45720" rtlCol="0" anchor="t"/>
          <a:lstStyle/>
          <a:p>
            <a:pPr>
              <a:lnSpc>
                <a:spcPts val="2000"/>
              </a:lnSpc>
            </a:pPr>
            <a:r>
              <a:rPr lang="en-US" sz="1500" dirty="0">
                <a:solidFill>
                  <a:srgbClr val="000000"/>
                </a:solidFill>
                <a:latin typeface="Arial" panose="020B0604020202020204" pitchFamily="34" charset="0"/>
                <a:ea typeface="Arial" pitchFamily="34" charset="-122"/>
                <a:cs typeface="Arial" panose="020B0604020202020204" pitchFamily="34" charset="0"/>
              </a:rPr>
              <a:t>This PowerPoint deck is divided into two parts</a:t>
            </a:r>
            <a:r>
              <a:rPr lang="en-US" sz="1400" dirty="0">
                <a:solidFill>
                  <a:srgbClr val="000000"/>
                </a:solidFill>
                <a:latin typeface="Arial" panose="020B0604020202020204" pitchFamily="34" charset="0"/>
                <a:ea typeface="Arial" pitchFamily="34" charset="-122"/>
                <a:cs typeface="Arial" panose="020B0604020202020204" pitchFamily="34" charset="0"/>
              </a:rPr>
              <a:t>:</a:t>
            </a:r>
            <a:endParaRPr lang="en-US" sz="1400" dirty="0">
              <a:latin typeface="Arial" panose="020B0604020202020204" pitchFamily="34" charset="0"/>
              <a:cs typeface="Arial" panose="020B0604020202020204" pitchFamily="34" charset="0"/>
            </a:endParaRPr>
          </a:p>
          <a:p>
            <a:pPr>
              <a:lnSpc>
                <a:spcPts val="2000"/>
              </a:lnSpc>
            </a:pPr>
            <a:endParaRPr lang="en-US" sz="1400" dirty="0">
              <a:solidFill>
                <a:srgbClr val="000000"/>
              </a:solidFill>
              <a:latin typeface="Arial" panose="020B0604020202020204" pitchFamily="34" charset="0"/>
              <a:ea typeface="Arial" pitchFamily="34" charset="-122"/>
              <a:cs typeface="Arial" panose="020B0604020202020204" pitchFamily="34" charset="0"/>
            </a:endParaRPr>
          </a:p>
          <a:p>
            <a:pPr marL="342900" indent="-342900">
              <a:lnSpc>
                <a:spcPts val="2000"/>
              </a:lnSpc>
              <a:buSzPct val="100000"/>
              <a:buChar char="•"/>
            </a:pPr>
            <a:r>
              <a:rPr lang="en-US" sz="1500" dirty="0">
                <a:solidFill>
                  <a:srgbClr val="000000"/>
                </a:solidFill>
                <a:latin typeface="Arial" panose="020B0604020202020204" pitchFamily="34" charset="0"/>
                <a:ea typeface="Arial" pitchFamily="34" charset="-122"/>
                <a:cs typeface="Arial" panose="020B0604020202020204" pitchFamily="34" charset="0"/>
              </a:rPr>
              <a:t>Instructor Planning Guide</a:t>
            </a:r>
            <a:endParaRPr lang="en-US" sz="1500" dirty="0">
              <a:latin typeface="Arial" panose="020B0604020202020204" pitchFamily="34" charset="0"/>
              <a:cs typeface="Arial" panose="020B0604020202020204" pitchFamily="34" charset="0"/>
            </a:endParaRPr>
          </a:p>
          <a:p>
            <a:pPr marL="685800" lvl="1" indent="-342900">
              <a:lnSpc>
                <a:spcPts val="2000"/>
              </a:lnSpc>
              <a:buSzPct val="100000"/>
              <a:buChar char="•"/>
            </a:pPr>
            <a:r>
              <a:rPr lang="en-US" sz="1400" dirty="0">
                <a:solidFill>
                  <a:srgbClr val="000000"/>
                </a:solidFill>
                <a:latin typeface="Arial" panose="020B0604020202020204" pitchFamily="34" charset="0"/>
                <a:ea typeface="Arial" pitchFamily="34" charset="-122"/>
                <a:cs typeface="Arial" panose="020B0604020202020204" pitchFamily="34" charset="0"/>
              </a:rPr>
              <a:t>Information to help you become familiar with the module</a:t>
            </a:r>
          </a:p>
          <a:p>
            <a:pPr marL="685800" lvl="1" indent="-342900">
              <a:lnSpc>
                <a:spcPts val="2000"/>
              </a:lnSpc>
              <a:buSzPct val="100000"/>
              <a:buChar char="•"/>
            </a:pPr>
            <a:r>
              <a:rPr lang="en-US" sz="1400" dirty="0">
                <a:latin typeface="Arial" panose="020B0604020202020204" pitchFamily="34" charset="0"/>
                <a:cs typeface="Arial" panose="020B0604020202020204" pitchFamily="34" charset="0"/>
              </a:rPr>
              <a:t>Teaching aids</a:t>
            </a:r>
          </a:p>
          <a:p>
            <a:pPr marL="685800" lvl="1" indent="-342900">
              <a:lnSpc>
                <a:spcPts val="2000"/>
              </a:lnSpc>
              <a:buSzPct val="100000"/>
              <a:buFontTx/>
              <a:buChar char="•"/>
            </a:pPr>
            <a:endParaRPr lang="en-US" sz="1400" dirty="0">
              <a:solidFill>
                <a:srgbClr val="000000"/>
              </a:solidFill>
              <a:latin typeface="Arial" panose="020B0604020202020204" pitchFamily="34" charset="0"/>
              <a:cs typeface="Arial" panose="020B0604020202020204" pitchFamily="34" charset="0"/>
            </a:endParaRPr>
          </a:p>
          <a:p>
            <a:pPr marL="228600" indent="-342900">
              <a:lnSpc>
                <a:spcPts val="2000"/>
              </a:lnSpc>
              <a:buSzPct val="100000"/>
              <a:buFont typeface="Arial"/>
              <a:buChar char="•"/>
            </a:pPr>
            <a:r>
              <a:rPr lang="en-US" sz="1500" dirty="0">
                <a:solidFill>
                  <a:srgbClr val="000000"/>
                </a:solidFill>
                <a:latin typeface="Arial" panose="020B0604020202020204" pitchFamily="34" charset="0"/>
                <a:cs typeface="Arial" panose="020B0604020202020204" pitchFamily="34" charset="0"/>
              </a:rPr>
              <a:t>Instructor Class Presentation</a:t>
            </a:r>
          </a:p>
          <a:p>
            <a:pPr marL="685800" lvl="1" indent="-342900">
              <a:lnSpc>
                <a:spcPts val="2000"/>
              </a:lnSpc>
              <a:buSzPct val="100000"/>
              <a:buChar char="•"/>
            </a:pPr>
            <a:r>
              <a:rPr lang="en-US" sz="1400" dirty="0">
                <a:solidFill>
                  <a:srgbClr val="000000"/>
                </a:solidFill>
                <a:latin typeface="Arial" panose="020B0604020202020204" pitchFamily="34" charset="0"/>
                <a:cs typeface="Arial" panose="020B0604020202020204" pitchFamily="34" charset="0"/>
              </a:rPr>
              <a:t>Optional slides that you can use in the classroom</a:t>
            </a:r>
            <a:endParaRPr lang="en-US" dirty="0">
              <a:solidFill>
                <a:srgbClr val="000000"/>
              </a:solidFill>
              <a:latin typeface="Arial" panose="020B0604020202020204" pitchFamily="34" charset="0"/>
              <a:cs typeface="Arial" panose="020B0604020202020204" pitchFamily="34" charset="0"/>
            </a:endParaRPr>
          </a:p>
          <a:p>
            <a:pPr marL="685800" lvl="1" indent="-342900">
              <a:lnSpc>
                <a:spcPts val="2000"/>
              </a:lnSpc>
              <a:buSzPct val="100000"/>
              <a:buChar char="•"/>
            </a:pPr>
            <a:r>
              <a:rPr lang="en-US" sz="1400" dirty="0">
                <a:solidFill>
                  <a:srgbClr val="000000"/>
                </a:solidFill>
                <a:latin typeface="Arial" panose="020B0604020202020204" pitchFamily="34" charset="0"/>
                <a:cs typeface="Arial" panose="020B0604020202020204" pitchFamily="34" charset="0"/>
              </a:rPr>
              <a:t>Begins on slide # 8</a:t>
            </a:r>
          </a:p>
          <a:p>
            <a:pPr marL="685800" lvl="1" indent="-342900">
              <a:lnSpc>
                <a:spcPts val="2000"/>
              </a:lnSpc>
              <a:buSzPct val="100000"/>
              <a:buChar char="•"/>
            </a:pPr>
            <a:endParaRPr lang="en-US" sz="1400" b="1" dirty="0">
              <a:latin typeface="Arial" panose="020B0604020202020204" pitchFamily="34" charset="0"/>
              <a:ea typeface="+mn-lt"/>
              <a:cs typeface="Arial" panose="020B0604020202020204" pitchFamily="34" charset="0"/>
            </a:endParaRPr>
          </a:p>
          <a:p>
            <a:pPr marL="342900" lvl="1">
              <a:lnSpc>
                <a:spcPts val="2000"/>
              </a:lnSpc>
              <a:buSzPct val="100000"/>
            </a:pPr>
            <a:r>
              <a:rPr lang="en-US" sz="1400" b="1" dirty="0">
                <a:latin typeface="Arial" panose="020B0604020202020204" pitchFamily="34" charset="0"/>
                <a:ea typeface="+mn-lt"/>
                <a:cs typeface="Arial" panose="020B0604020202020204" pitchFamily="34" charset="0"/>
              </a:rPr>
              <a:t>Note</a:t>
            </a:r>
            <a:r>
              <a:rPr lang="en-US" sz="1400" dirty="0">
                <a:latin typeface="Arial" panose="020B0604020202020204" pitchFamily="34" charset="0"/>
                <a:ea typeface="+mn-lt"/>
                <a:cs typeface="Arial" panose="020B0604020202020204" pitchFamily="34" charset="0"/>
              </a:rPr>
              <a:t>: Remove the Planning Guide from this presentation before sharing it with anyone.</a:t>
            </a:r>
            <a:endParaRPr lang="en-US" sz="1400" dirty="0">
              <a:latin typeface="Arial" panose="020B0604020202020204" pitchFamily="34" charset="0"/>
              <a:cs typeface="Arial" panose="020B0604020202020204" pitchFamily="34" charset="0"/>
            </a:endParaRPr>
          </a:p>
          <a:p>
            <a:pPr marL="228600" indent="-342900">
              <a:lnSpc>
                <a:spcPts val="2000"/>
              </a:lnSpc>
              <a:buSzPct val="100000"/>
              <a:buChar char="•"/>
            </a:pPr>
            <a:endParaRPr lang="en-US" sz="1400" dirty="0">
              <a:latin typeface="Arial" panose="020B0604020202020204" pitchFamily="34" charset="0"/>
              <a:cs typeface="Arial" panose="020B0604020202020204" pitchFamily="34" charset="0"/>
            </a:endParaRPr>
          </a:p>
          <a:p>
            <a:pPr marL="342900" lvl="1">
              <a:lnSpc>
                <a:spcPts val="2000"/>
              </a:lnSpc>
              <a:buSzPct val="100000"/>
            </a:pPr>
            <a:endParaRPr lang="en-US" sz="1400" dirty="0">
              <a:latin typeface="Arial" panose="020B0604020202020204" pitchFamily="34" charset="0"/>
              <a:cs typeface="Arial" panose="020B0604020202020204" pitchFamily="34" charset="0"/>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57690"/>
            <a:ext cx="9144000" cy="399509"/>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What to Expect in this Module</a:t>
            </a:r>
            <a:endParaRPr lang="en-US" sz="2200"/>
          </a:p>
        </p:txBody>
      </p:sp>
      <p:sp>
        <p:nvSpPr>
          <p:cNvPr id="3" name="Text 1"/>
          <p:cNvSpPr/>
          <p:nvPr/>
        </p:nvSpPr>
        <p:spPr>
          <a:xfrm>
            <a:off x="0" y="539546"/>
            <a:ext cx="8229600" cy="330385"/>
          </a:xfrm>
          <a:prstGeom prst="rect">
            <a:avLst/>
          </a:prstGeom>
          <a:noFill/>
          <a:ln/>
        </p:spPr>
        <p:txBody>
          <a:bodyPr wrap="square" rtlCol="0" anchor="t"/>
          <a:lstStyle/>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Arial"/>
                <a:ea typeface="ＭＳ Ｐゴシック" charset="0"/>
              </a:rPr>
              <a:t>To facilitate learning, the following features within the UI may be included in this module:</a:t>
            </a:r>
          </a:p>
        </p:txBody>
      </p:sp>
      <p:graphicFrame>
        <p:nvGraphicFramePr>
          <p:cNvPr id="6" name="Table 5">
            <a:extLst>
              <a:ext uri="{FF2B5EF4-FFF2-40B4-BE49-F238E27FC236}">
                <a16:creationId xmlns:a16="http://schemas.microsoft.com/office/drawing/2014/main" id="{46BA51EE-4A04-34C3-9D9A-FE7F5604ED68}"/>
              </a:ext>
            </a:extLst>
          </p:cNvPr>
          <p:cNvGraphicFramePr>
            <a:graphicFrameLocks noGrp="1"/>
          </p:cNvGraphicFramePr>
          <p:nvPr>
            <p:extLst>
              <p:ext uri="{D42A27DB-BD31-4B8C-83A1-F6EECF244321}">
                <p14:modId xmlns:p14="http://schemas.microsoft.com/office/powerpoint/2010/main" val="2116846970"/>
              </p:ext>
            </p:extLst>
          </p:nvPr>
        </p:nvGraphicFramePr>
        <p:xfrm>
          <a:off x="293236" y="1032286"/>
          <a:ext cx="8557528" cy="3393207"/>
        </p:xfrm>
        <a:graphic>
          <a:graphicData uri="http://schemas.openxmlformats.org/drawingml/2006/table">
            <a:tbl>
              <a:tblPr firstRow="1" bandRow="1">
                <a:tableStyleId>{5C22544A-7EE6-4342-B048-85BDC9FD1C3A}</a:tableStyleId>
              </a:tblPr>
              <a:tblGrid>
                <a:gridCol w="2223828">
                  <a:extLst>
                    <a:ext uri="{9D8B030D-6E8A-4147-A177-3AD203B41FA5}">
                      <a16:colId xmlns:a16="http://schemas.microsoft.com/office/drawing/2014/main" val="1538257833"/>
                    </a:ext>
                  </a:extLst>
                </a:gridCol>
                <a:gridCol w="6333700">
                  <a:extLst>
                    <a:ext uri="{9D8B030D-6E8A-4147-A177-3AD203B41FA5}">
                      <a16:colId xmlns:a16="http://schemas.microsoft.com/office/drawing/2014/main" val="4158327828"/>
                    </a:ext>
                  </a:extLst>
                </a:gridCol>
              </a:tblGrid>
              <a:tr h="265091">
                <a:tc>
                  <a:txBody>
                    <a:bodyPr/>
                    <a:lstStyle/>
                    <a:p>
                      <a:r>
                        <a:rPr lang="en-US" sz="1400">
                          <a:latin typeface="Arial" panose="020B0604020202020204" pitchFamily="34" charset="0"/>
                          <a:cs typeface="Arial" panose="020B0604020202020204" pitchFamily="34" charset="0"/>
                        </a:rPr>
                        <a:t>Feature</a:t>
                      </a:r>
                    </a:p>
                  </a:txBody>
                  <a:tcPr/>
                </a:tc>
                <a:tc>
                  <a:txBody>
                    <a:bodyPr/>
                    <a:lstStyle/>
                    <a:p>
                      <a:r>
                        <a:rPr lang="en-US" sz="1400">
                          <a:latin typeface="Arial" panose="020B0604020202020204" pitchFamily="34" charset="0"/>
                          <a:cs typeface="Arial" panose="020B0604020202020204" pitchFamily="34" charset="0"/>
                        </a:rPr>
                        <a:t>Description</a:t>
                      </a:r>
                    </a:p>
                  </a:txBody>
                  <a:tcPr/>
                </a:tc>
                <a:extLst>
                  <a:ext uri="{0D108BD9-81ED-4DB2-BD59-A6C34878D82A}">
                    <a16:rowId xmlns:a16="http://schemas.microsoft.com/office/drawing/2014/main" val="2212173508"/>
                  </a:ext>
                </a:extLst>
              </a:tr>
              <a:tr h="331556">
                <a:tc>
                  <a:txBody>
                    <a:bodyPr/>
                    <a:lstStyle/>
                    <a:p>
                      <a:pPr algn="l" fontAlgn="b"/>
                      <a:r>
                        <a:rPr lang="en-US" sz="1400" b="0" i="0" u="none" strike="noStrike">
                          <a:solidFill>
                            <a:srgbClr val="000000"/>
                          </a:solidFill>
                          <a:effectLst/>
                          <a:latin typeface="Arial" panose="020B0604020202020204" pitchFamily="34" charset="0"/>
                          <a:cs typeface="Arial" panose="020B0604020202020204" pitchFamily="34" charset="0"/>
                        </a:rPr>
                        <a:t>Avatar</a:t>
                      </a:r>
                    </a:p>
                  </a:txBody>
                  <a:tcPr marL="9525" marR="9525" marT="9525" marB="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400">
                          <a:latin typeface="Arial" panose="020B0604020202020204" pitchFamily="34" charset="0"/>
                          <a:cs typeface="Arial" panose="020B0604020202020204" pitchFamily="34" charset="0"/>
                        </a:rPr>
                        <a:t>A virtual character, representing a subject matter expert, adds additional contextual information to skills the students have learned and helps them connect the dots by asking honest reflection questions.</a:t>
                      </a:r>
                      <a:endParaRPr lang="en-US" sz="1400">
                        <a:highlight>
                          <a:srgbClr val="FFFF00"/>
                        </a:highligh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575536039"/>
                  </a:ext>
                </a:extLst>
              </a:tr>
              <a:tr h="331556">
                <a:tc>
                  <a:txBody>
                    <a:bodyPr/>
                    <a:lstStyle/>
                    <a:p>
                      <a:pPr algn="l" fontAlgn="b"/>
                      <a:r>
                        <a:rPr lang="en-US" sz="1400" b="0" i="0" u="none" strike="noStrike">
                          <a:solidFill>
                            <a:srgbClr val="000000"/>
                          </a:solidFill>
                          <a:effectLst/>
                          <a:latin typeface="Arial" panose="020B0604020202020204" pitchFamily="34" charset="0"/>
                          <a:cs typeface="Arial" panose="020B0604020202020204" pitchFamily="34" charset="0"/>
                        </a:rPr>
                        <a:t>Animations</a:t>
                      </a:r>
                    </a:p>
                  </a:txBody>
                  <a:tcPr marL="9525" marR="9525" marT="9525" marB="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400">
                          <a:latin typeface="Arial" panose="020B0604020202020204" pitchFamily="34" charset="0"/>
                          <a:cs typeface="Arial" panose="020B0604020202020204" pitchFamily="34" charset="0"/>
                        </a:rPr>
                        <a:t>Expose learners to new skills and concepts.</a:t>
                      </a:r>
                    </a:p>
                  </a:txBody>
                  <a:tcPr/>
                </a:tc>
                <a:extLst>
                  <a:ext uri="{0D108BD9-81ED-4DB2-BD59-A6C34878D82A}">
                    <a16:rowId xmlns:a16="http://schemas.microsoft.com/office/drawing/2014/main" val="3737278777"/>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a:solidFill>
                            <a:srgbClr val="000000"/>
                          </a:solidFill>
                          <a:effectLst/>
                          <a:latin typeface="Arial" panose="020B0604020202020204" pitchFamily="34" charset="0"/>
                          <a:cs typeface="Arial" panose="020B0604020202020204" pitchFamily="34" charset="0"/>
                        </a:rPr>
                        <a:t>Videos</a:t>
                      </a:r>
                    </a:p>
                  </a:txBody>
                  <a:tcPr marL="9525" marR="9525" marT="9525" marB="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400">
                          <a:latin typeface="Arial" panose="020B0604020202020204" pitchFamily="34" charset="0"/>
                          <a:cs typeface="Arial" panose="020B0604020202020204" pitchFamily="34" charset="0"/>
                        </a:rPr>
                        <a:t>Expose learners to new skills and concepts.</a:t>
                      </a:r>
                    </a:p>
                  </a:txBody>
                  <a:tcPr/>
                </a:tc>
                <a:extLst>
                  <a:ext uri="{0D108BD9-81ED-4DB2-BD59-A6C34878D82A}">
                    <a16:rowId xmlns:a16="http://schemas.microsoft.com/office/drawing/2014/main" val="370540474"/>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a:solidFill>
                            <a:srgbClr val="000000"/>
                          </a:solidFill>
                          <a:effectLst/>
                          <a:latin typeface="Arial" panose="020B0604020202020204" pitchFamily="34" charset="0"/>
                          <a:cs typeface="Arial" panose="020B0604020202020204" pitchFamily="34" charset="0"/>
                        </a:rPr>
                        <a:t>Check Your Understanding</a:t>
                      </a:r>
                    </a:p>
                  </a:txBody>
                  <a:tcPr marL="9525" marR="9525" marT="9525" marB="0" anchor="ctr"/>
                </a:tc>
                <a:tc>
                  <a:txBody>
                    <a:bodyPr/>
                    <a:lstStyle/>
                    <a:p>
                      <a:r>
                        <a:rPr lang="en-US" sz="1400">
                          <a:latin typeface="Arial" panose="020B0604020202020204" pitchFamily="34" charset="0"/>
                          <a:cs typeface="Arial" panose="020B0604020202020204" pitchFamily="34" charset="0"/>
                        </a:rPr>
                        <a:t>Per topic online quiz to help learners gauge content understanding. </a:t>
                      </a:r>
                    </a:p>
                  </a:txBody>
                  <a:tcPr/>
                </a:tc>
                <a:extLst>
                  <a:ext uri="{0D108BD9-81ED-4DB2-BD59-A6C34878D82A}">
                    <a16:rowId xmlns:a16="http://schemas.microsoft.com/office/drawing/2014/main" val="201870297"/>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a:solidFill>
                            <a:srgbClr val="000000"/>
                          </a:solidFill>
                          <a:effectLst/>
                          <a:latin typeface="Arial" panose="020B0604020202020204" pitchFamily="34" charset="0"/>
                          <a:cs typeface="Arial" panose="020B0604020202020204" pitchFamily="34" charset="0"/>
                        </a:rPr>
                        <a:t>Interactive Activities</a:t>
                      </a:r>
                    </a:p>
                  </a:txBody>
                  <a:tcPr marL="9525" marR="9525" marT="9525" marB="0" anchor="ctr"/>
                </a:tc>
                <a:tc>
                  <a:txBody>
                    <a:bodyPr/>
                    <a:lstStyle/>
                    <a:p>
                      <a:r>
                        <a:rPr lang="en-US" sz="1400">
                          <a:latin typeface="Arial" panose="020B0604020202020204" pitchFamily="34" charset="0"/>
                          <a:cs typeface="Arial" panose="020B0604020202020204" pitchFamily="34" charset="0"/>
                        </a:rPr>
                        <a:t>A variety of formats to help learners gauge content understanding.</a:t>
                      </a:r>
                    </a:p>
                  </a:txBody>
                  <a:tcPr/>
                </a:tc>
                <a:extLst>
                  <a:ext uri="{0D108BD9-81ED-4DB2-BD59-A6C34878D82A}">
                    <a16:rowId xmlns:a16="http://schemas.microsoft.com/office/drawing/2014/main" val="3564111364"/>
                  </a:ext>
                </a:extLst>
              </a:tr>
              <a:tr h="215293">
                <a:tc>
                  <a:txBody>
                    <a:bodyPr/>
                    <a:lstStyle/>
                    <a:p>
                      <a:pPr algn="l" fontAlgn="b"/>
                      <a:r>
                        <a:rPr lang="en-US" sz="1400" b="0" i="0" u="none" strike="noStrike">
                          <a:solidFill>
                            <a:srgbClr val="000000"/>
                          </a:solidFill>
                          <a:effectLst/>
                          <a:latin typeface="Arial" panose="020B0604020202020204" pitchFamily="34" charset="0"/>
                          <a:cs typeface="Arial" panose="020B0604020202020204" pitchFamily="34" charset="0"/>
                        </a:rPr>
                        <a:t>Syntax Checker</a:t>
                      </a:r>
                    </a:p>
                  </a:txBody>
                  <a:tcPr marL="9525" marR="9525" marT="9525" marB="0" anchor="ctr"/>
                </a:tc>
                <a:tc>
                  <a:txBody>
                    <a:bodyPr/>
                    <a:lstStyle/>
                    <a:p>
                      <a:r>
                        <a:rPr lang="en-US" sz="1400">
                          <a:latin typeface="Arial" panose="020B0604020202020204" pitchFamily="34" charset="0"/>
                          <a:cs typeface="Arial" panose="020B0604020202020204" pitchFamily="34" charset="0"/>
                        </a:rPr>
                        <a:t>Small simulations expose learners to the Cisco command line to practice configuration skills.</a:t>
                      </a:r>
                    </a:p>
                  </a:txBody>
                  <a:tcPr/>
                </a:tc>
                <a:extLst>
                  <a:ext uri="{0D108BD9-81ED-4DB2-BD59-A6C34878D82A}">
                    <a16:rowId xmlns:a16="http://schemas.microsoft.com/office/drawing/2014/main" val="72694604"/>
                  </a:ext>
                </a:extLst>
              </a:tr>
              <a:tr h="265091">
                <a:tc>
                  <a:txBody>
                    <a:bodyPr/>
                    <a:lstStyle/>
                    <a:p>
                      <a:pPr algn="l" fontAlgn="b"/>
                      <a:r>
                        <a:rPr lang="en-US" sz="1400" b="0" i="0" u="none" strike="noStrike">
                          <a:solidFill>
                            <a:srgbClr val="000000"/>
                          </a:solidFill>
                          <a:effectLst/>
                          <a:latin typeface="Arial" panose="020B0604020202020204" pitchFamily="34" charset="0"/>
                          <a:cs typeface="Arial" panose="020B0604020202020204" pitchFamily="34" charset="0"/>
                        </a:rPr>
                        <a:t>PT Activity</a:t>
                      </a:r>
                    </a:p>
                  </a:txBody>
                  <a:tcPr marL="9525" marR="9525" marT="9525" marB="0" anchor="ctr"/>
                </a:tc>
                <a:tc>
                  <a:txBody>
                    <a:bodyPr/>
                    <a:lstStyle/>
                    <a:p>
                      <a:r>
                        <a:rPr lang="en-US" sz="1400" dirty="0">
                          <a:latin typeface="Arial" panose="020B0604020202020204" pitchFamily="34" charset="0"/>
                          <a:cs typeface="Arial" panose="020B0604020202020204" pitchFamily="34" charset="0"/>
                        </a:rPr>
                        <a:t>Simulation and modeling activities are designed to explore, acquire, reinforce, and expand skills.</a:t>
                      </a:r>
                    </a:p>
                  </a:txBody>
                  <a:tcPr/>
                </a:tc>
                <a:extLst>
                  <a:ext uri="{0D108BD9-81ED-4DB2-BD59-A6C34878D82A}">
                    <a16:rowId xmlns:a16="http://schemas.microsoft.com/office/drawing/2014/main" val="2474018262"/>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57690"/>
            <a:ext cx="9144000" cy="399509"/>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What to Expect in this Module (Cont.)</a:t>
            </a:r>
            <a:endParaRPr lang="en-US" sz="2200"/>
          </a:p>
        </p:txBody>
      </p:sp>
      <p:sp>
        <p:nvSpPr>
          <p:cNvPr id="3" name="Text 1"/>
          <p:cNvSpPr/>
          <p:nvPr/>
        </p:nvSpPr>
        <p:spPr>
          <a:xfrm>
            <a:off x="0" y="539546"/>
            <a:ext cx="8229600" cy="330385"/>
          </a:xfrm>
          <a:prstGeom prst="rect">
            <a:avLst/>
          </a:prstGeom>
          <a:noFill/>
          <a:ln/>
        </p:spPr>
        <p:txBody>
          <a:bodyPr wrap="square" rtlCol="0" anchor="t"/>
          <a:lstStyle/>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Arial"/>
                <a:ea typeface="ＭＳ Ｐゴシック" charset="0"/>
              </a:rPr>
              <a:t>To facilitate learning, the following features within the UI may be included in this module:</a:t>
            </a:r>
          </a:p>
        </p:txBody>
      </p:sp>
      <p:graphicFrame>
        <p:nvGraphicFramePr>
          <p:cNvPr id="4" name="Table 3">
            <a:extLst>
              <a:ext uri="{FF2B5EF4-FFF2-40B4-BE49-F238E27FC236}">
                <a16:creationId xmlns:a16="http://schemas.microsoft.com/office/drawing/2014/main" id="{1A808962-47D9-C1F0-C47A-18325ACF0D96}"/>
              </a:ext>
            </a:extLst>
          </p:cNvPr>
          <p:cNvGraphicFramePr>
            <a:graphicFrameLocks noGrp="1"/>
          </p:cNvGraphicFramePr>
          <p:nvPr>
            <p:extLst>
              <p:ext uri="{D42A27DB-BD31-4B8C-83A1-F6EECF244321}">
                <p14:modId xmlns:p14="http://schemas.microsoft.com/office/powerpoint/2010/main" val="96657650"/>
              </p:ext>
            </p:extLst>
          </p:nvPr>
        </p:nvGraphicFramePr>
        <p:xfrm>
          <a:off x="375270" y="1223175"/>
          <a:ext cx="8311530" cy="1432560"/>
        </p:xfrm>
        <a:graphic>
          <a:graphicData uri="http://schemas.openxmlformats.org/drawingml/2006/table">
            <a:tbl>
              <a:tblPr firstRow="1" bandRow="1">
                <a:tableStyleId>{5C22544A-7EE6-4342-B048-85BDC9FD1C3A}</a:tableStyleId>
              </a:tblPr>
              <a:tblGrid>
                <a:gridCol w="2106366">
                  <a:extLst>
                    <a:ext uri="{9D8B030D-6E8A-4147-A177-3AD203B41FA5}">
                      <a16:colId xmlns:a16="http://schemas.microsoft.com/office/drawing/2014/main" val="2665084169"/>
                    </a:ext>
                  </a:extLst>
                </a:gridCol>
                <a:gridCol w="6205164">
                  <a:extLst>
                    <a:ext uri="{9D8B030D-6E8A-4147-A177-3AD203B41FA5}">
                      <a16:colId xmlns:a16="http://schemas.microsoft.com/office/drawing/2014/main" val="2550928011"/>
                    </a:ext>
                  </a:extLst>
                </a:gridCol>
              </a:tblGrid>
              <a:tr h="265091">
                <a:tc>
                  <a:txBody>
                    <a:bodyPr/>
                    <a:lstStyle/>
                    <a:p>
                      <a:pPr algn="l" fontAlgn="b"/>
                      <a:r>
                        <a:rPr lang="en-US" sz="1400" b="1" i="0" u="none" strike="noStrike">
                          <a:solidFill>
                            <a:schemeClr val="bg1"/>
                          </a:solidFill>
                          <a:effectLst/>
                          <a:latin typeface="Arial" panose="020B0604020202020204" pitchFamily="34" charset="0"/>
                          <a:cs typeface="Arial" panose="020B0604020202020204" pitchFamily="34" charset="0"/>
                        </a:rPr>
                        <a:t>Feature</a:t>
                      </a:r>
                    </a:p>
                  </a:txBody>
                  <a:tcPr marL="9525" marR="9525" marT="9525" marB="0" anchor="b"/>
                </a:tc>
                <a:tc>
                  <a:txBody>
                    <a:bodyPr/>
                    <a:lstStyle/>
                    <a:p>
                      <a:r>
                        <a:rPr lang="en-US" sz="1400">
                          <a:latin typeface="Arial" panose="020B0604020202020204" pitchFamily="34" charset="0"/>
                          <a:cs typeface="Arial" panose="020B0604020202020204" pitchFamily="34" charset="0"/>
                        </a:rPr>
                        <a:t>Description</a:t>
                      </a:r>
                    </a:p>
                  </a:txBody>
                  <a:tcPr/>
                </a:tc>
                <a:extLst>
                  <a:ext uri="{0D108BD9-81ED-4DB2-BD59-A6C34878D82A}">
                    <a16:rowId xmlns:a16="http://schemas.microsoft.com/office/drawing/2014/main" val="884086909"/>
                  </a:ext>
                </a:extLst>
              </a:tr>
              <a:tr h="265091">
                <a:tc>
                  <a:txBody>
                    <a:bodyPr/>
                    <a:lstStyle/>
                    <a:p>
                      <a:pPr algn="l" fontAlgn="b"/>
                      <a:r>
                        <a:rPr lang="en-US" sz="1400" b="0" i="0" u="none" strike="noStrike">
                          <a:solidFill>
                            <a:srgbClr val="000000"/>
                          </a:solidFill>
                          <a:effectLst/>
                          <a:latin typeface="Arial" panose="020B0604020202020204" pitchFamily="34" charset="0"/>
                          <a:cs typeface="Arial" panose="020B0604020202020204" pitchFamily="34" charset="0"/>
                        </a:rPr>
                        <a:t>Hands-On Labs</a:t>
                      </a:r>
                    </a:p>
                  </a:txBody>
                  <a:tcPr marL="9525" marR="9525" marT="9525" marB="0" anchor="ctr"/>
                </a:tc>
                <a:tc>
                  <a:txBody>
                    <a:bodyPr/>
                    <a:lstStyle/>
                    <a:p>
                      <a:r>
                        <a:rPr lang="en-US" sz="1400">
                          <a:latin typeface="Arial" panose="020B0604020202020204" pitchFamily="34" charset="0"/>
                          <a:cs typeface="Arial" panose="020B0604020202020204" pitchFamily="34" charset="0"/>
                        </a:rPr>
                        <a:t>Labs designed for working with physical equipment.</a:t>
                      </a:r>
                    </a:p>
                  </a:txBody>
                  <a:tcPr/>
                </a:tc>
                <a:extLst>
                  <a:ext uri="{0D108BD9-81ED-4DB2-BD59-A6C34878D82A}">
                    <a16:rowId xmlns:a16="http://schemas.microsoft.com/office/drawing/2014/main" val="869894806"/>
                  </a:ext>
                </a:extLst>
              </a:tr>
              <a:tr h="265091">
                <a:tc>
                  <a:txBody>
                    <a:bodyPr/>
                    <a:lstStyle/>
                    <a:p>
                      <a:pPr algn="l" fontAlgn="b"/>
                      <a:r>
                        <a:rPr lang="en-US" sz="1400" b="0" i="0" u="none" strike="noStrike">
                          <a:solidFill>
                            <a:srgbClr val="000000"/>
                          </a:solidFill>
                          <a:effectLst/>
                          <a:latin typeface="Arial" panose="020B0604020202020204" pitchFamily="34" charset="0"/>
                          <a:cs typeface="Arial" panose="020B0604020202020204" pitchFamily="34" charset="0"/>
                        </a:rPr>
                        <a:t>Module Quizzes</a:t>
                      </a:r>
                    </a:p>
                  </a:txBody>
                  <a:tcPr marL="9525" marR="9525" marT="9525" marB="0" anchor="ctr"/>
                </a:tc>
                <a:tc>
                  <a:txBody>
                    <a:bodyPr/>
                    <a:lstStyle/>
                    <a:p>
                      <a:r>
                        <a:rPr lang="en-US" sz="1400">
                          <a:latin typeface="Arial" panose="020B0604020202020204" pitchFamily="34" charset="0"/>
                          <a:cs typeface="Arial" panose="020B0604020202020204" pitchFamily="34" charset="0"/>
                        </a:rPr>
                        <a:t>Self-assessments that integrate concepts and skills learned throughout the series of topics presented in the module.</a:t>
                      </a:r>
                    </a:p>
                  </a:txBody>
                  <a:tcPr/>
                </a:tc>
                <a:extLst>
                  <a:ext uri="{0D108BD9-81ED-4DB2-BD59-A6C34878D82A}">
                    <a16:rowId xmlns:a16="http://schemas.microsoft.com/office/drawing/2014/main" val="3087571230"/>
                  </a:ext>
                </a:extLst>
              </a:tr>
              <a:tr h="265091">
                <a:tc>
                  <a:txBody>
                    <a:bodyPr/>
                    <a:lstStyle/>
                    <a:p>
                      <a:pPr algn="l" fontAlgn="b"/>
                      <a:r>
                        <a:rPr lang="en-US" sz="1400" b="0" i="0" u="none" strike="noStrike">
                          <a:solidFill>
                            <a:srgbClr val="000000"/>
                          </a:solidFill>
                          <a:effectLst/>
                          <a:latin typeface="Arial" panose="020B0604020202020204" pitchFamily="34" charset="0"/>
                          <a:cs typeface="Arial" panose="020B0604020202020204" pitchFamily="34" charset="0"/>
                        </a:rPr>
                        <a:t>Module Summary</a:t>
                      </a:r>
                    </a:p>
                  </a:txBody>
                  <a:tcPr marL="9525" marR="9525" marT="9525" marB="0" anchor="ctr"/>
                </a:tc>
                <a:tc>
                  <a:txBody>
                    <a:bodyPr/>
                    <a:lstStyle/>
                    <a:p>
                      <a:r>
                        <a:rPr lang="en-US" sz="1400" dirty="0">
                          <a:latin typeface="Arial" panose="020B0604020202020204" pitchFamily="34" charset="0"/>
                          <a:cs typeface="Arial" panose="020B0604020202020204" pitchFamily="34" charset="0"/>
                        </a:rPr>
                        <a:t>Briefly recaps module content.</a:t>
                      </a:r>
                    </a:p>
                  </a:txBody>
                  <a:tcPr/>
                </a:tc>
                <a:extLst>
                  <a:ext uri="{0D108BD9-81ED-4DB2-BD59-A6C34878D82A}">
                    <a16:rowId xmlns:a16="http://schemas.microsoft.com/office/drawing/2014/main" val="2641840229"/>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4</a:t>
            </a:fld>
            <a:endParaRPr lang="en-US"/>
          </a:p>
        </p:txBody>
      </p:sp>
    </p:spTree>
    <p:extLst>
      <p:ext uri="{BB962C8B-B14F-4D97-AF65-F5344CB8AC3E}">
        <p14:creationId xmlns:p14="http://schemas.microsoft.com/office/powerpoint/2010/main" val="3646659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27432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Check Your Understanding</a:t>
            </a:r>
            <a:endParaRPr lang="en-US" sz="2200"/>
          </a:p>
        </p:txBody>
      </p:sp>
      <p:sp>
        <p:nvSpPr>
          <p:cNvPr id="3" name="Text 1"/>
          <p:cNvSpPr/>
          <p:nvPr/>
        </p:nvSpPr>
        <p:spPr>
          <a:xfrm>
            <a:off x="350519" y="933172"/>
            <a:ext cx="7999221" cy="1638578"/>
          </a:xfrm>
          <a:prstGeom prst="rect">
            <a:avLst/>
          </a:prstGeom>
          <a:noFill/>
          <a:ln/>
        </p:spPr>
        <p:txBody>
          <a:bodyPr wrap="square" rtlCol="0" anchor="t"/>
          <a:lstStyle/>
          <a:p>
            <a:pPr marL="285750" indent="-285750">
              <a:spcBef>
                <a:spcPct val="30000"/>
              </a:spcBef>
              <a:buFont typeface="Arial" panose="020B0604020202020204" pitchFamily="34" charset="0"/>
              <a:buChar char="•"/>
            </a:pPr>
            <a:r>
              <a:rPr lang="en-US" sz="1400">
                <a:latin typeface="Arial" panose="020B0604020202020204" pitchFamily="34" charset="0"/>
                <a:cs typeface="Arial" panose="020B0604020202020204" pitchFamily="34" charset="0"/>
              </a:rPr>
              <a:t>Check Your Understanding activities are designed to let students quickly determine if they understand the content and can proceed or if they need to review. </a:t>
            </a:r>
          </a:p>
          <a:p>
            <a:pPr marL="285750" indent="-285750">
              <a:spcBef>
                <a:spcPct val="30000"/>
              </a:spcBef>
              <a:buFont typeface="Arial" panose="020B0604020202020204" pitchFamily="34" charset="0"/>
              <a:buChar char="•"/>
            </a:pPr>
            <a:r>
              <a:rPr lang="en-US" sz="1400">
                <a:latin typeface="Arial" panose="020B0604020202020204" pitchFamily="34" charset="0"/>
                <a:cs typeface="Arial" panose="020B0604020202020204" pitchFamily="34" charset="0"/>
              </a:rPr>
              <a:t>Check Your Understanding activities </a:t>
            </a:r>
            <a:r>
              <a:rPr lang="en-US" sz="1400" b="1" i="1">
                <a:latin typeface="Arial" panose="020B0604020202020204" pitchFamily="34" charset="0"/>
                <a:cs typeface="Arial" panose="020B0604020202020204" pitchFamily="34" charset="0"/>
              </a:rPr>
              <a:t>do not </a:t>
            </a:r>
            <a:r>
              <a:rPr lang="en-US" sz="1400">
                <a:latin typeface="Arial" panose="020B0604020202020204" pitchFamily="34" charset="0"/>
                <a:cs typeface="Arial" panose="020B0604020202020204" pitchFamily="34" charset="0"/>
              </a:rPr>
              <a:t>affect student grades.</a:t>
            </a:r>
          </a:p>
          <a:p>
            <a:pPr marL="285750" indent="-285750">
              <a:spcBef>
                <a:spcPct val="30000"/>
              </a:spcBef>
              <a:buFont typeface="Arial" panose="020B0604020202020204" pitchFamily="34" charset="0"/>
              <a:buChar char="•"/>
            </a:pPr>
            <a:r>
              <a:rPr lang="en-US" sz="1400">
                <a:latin typeface="Arial" panose="020B0604020202020204" pitchFamily="34" charset="0"/>
                <a:cs typeface="Arial" panose="020B0604020202020204" pitchFamily="34" charset="0"/>
              </a:rPr>
              <a:t>There are no separate slides for these activities in the PPT. They are listed in the notes area of the slide that appears before these activities.</a:t>
            </a: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27432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Module 2: Activities</a:t>
            </a:r>
            <a:endParaRPr lang="en-US" sz="2200"/>
          </a:p>
        </p:txBody>
      </p:sp>
      <p:sp>
        <p:nvSpPr>
          <p:cNvPr id="3" name="Text 1"/>
          <p:cNvSpPr/>
          <p:nvPr/>
        </p:nvSpPr>
        <p:spPr>
          <a:xfrm>
            <a:off x="0" y="457200"/>
            <a:ext cx="8229600" cy="372894"/>
          </a:xfrm>
          <a:prstGeom prst="rect">
            <a:avLst/>
          </a:prstGeom>
          <a:noFill/>
          <a:ln/>
        </p:spPr>
        <p:txBody>
          <a:bodyPr wrap="square" rtlCol="0" anchor="t"/>
          <a:lstStyle/>
          <a:p>
            <a:pPr>
              <a:lnSpc>
                <a:spcPts val="2000"/>
              </a:lnSpc>
            </a:pPr>
            <a:r>
              <a:rPr lang="en-US" sz="1400">
                <a:solidFill>
                  <a:srgbClr val="000000"/>
                </a:solidFill>
                <a:latin typeface="Arial" pitchFamily="34" charset="0"/>
                <a:ea typeface="Arial" pitchFamily="34" charset="-122"/>
                <a:cs typeface="Arial" pitchFamily="34" charset="-120"/>
              </a:rPr>
              <a:t>What activities are associated with this module?</a:t>
            </a:r>
            <a:endParaRPr lang="en-US" sz="1400"/>
          </a:p>
        </p:txBody>
      </p:sp>
      <p:graphicFrame>
        <p:nvGraphicFramePr>
          <p:cNvPr id="4" name="Table 3">
            <a:extLst>
              <a:ext uri="{FF2B5EF4-FFF2-40B4-BE49-F238E27FC236}">
                <a16:creationId xmlns:a16="http://schemas.microsoft.com/office/drawing/2014/main" id="{A81E39AF-5A46-EB3A-91B8-60E702EFDEF1}"/>
              </a:ext>
            </a:extLst>
          </p:cNvPr>
          <p:cNvGraphicFramePr>
            <a:graphicFrameLocks noGrp="1"/>
          </p:cNvGraphicFramePr>
          <p:nvPr>
            <p:extLst>
              <p:ext uri="{D42A27DB-BD31-4B8C-83A1-F6EECF244321}">
                <p14:modId xmlns:p14="http://schemas.microsoft.com/office/powerpoint/2010/main" val="706914164"/>
              </p:ext>
            </p:extLst>
          </p:nvPr>
        </p:nvGraphicFramePr>
        <p:xfrm>
          <a:off x="206944" y="1337588"/>
          <a:ext cx="8479856" cy="1916430"/>
        </p:xfrm>
        <a:graphic>
          <a:graphicData uri="http://schemas.openxmlformats.org/drawingml/2006/table">
            <a:tbl>
              <a:tblPr firstRow="1" bandRow="1">
                <a:tableStyleId>{5C22544A-7EE6-4342-B048-85BDC9FD1C3A}</a:tableStyleId>
              </a:tblPr>
              <a:tblGrid>
                <a:gridCol w="1046785">
                  <a:extLst>
                    <a:ext uri="{9D8B030D-6E8A-4147-A177-3AD203B41FA5}">
                      <a16:colId xmlns:a16="http://schemas.microsoft.com/office/drawing/2014/main" val="3312633849"/>
                    </a:ext>
                  </a:extLst>
                </a:gridCol>
                <a:gridCol w="1576099">
                  <a:extLst>
                    <a:ext uri="{9D8B030D-6E8A-4147-A177-3AD203B41FA5}">
                      <a16:colId xmlns:a16="http://schemas.microsoft.com/office/drawing/2014/main" val="3522596274"/>
                    </a:ext>
                  </a:extLst>
                </a:gridCol>
                <a:gridCol w="4158113">
                  <a:extLst>
                    <a:ext uri="{9D8B030D-6E8A-4147-A177-3AD203B41FA5}">
                      <a16:colId xmlns:a16="http://schemas.microsoft.com/office/drawing/2014/main" val="962671514"/>
                    </a:ext>
                  </a:extLst>
                </a:gridCol>
                <a:gridCol w="1698859">
                  <a:extLst>
                    <a:ext uri="{9D8B030D-6E8A-4147-A177-3AD203B41FA5}">
                      <a16:colId xmlns:a16="http://schemas.microsoft.com/office/drawing/2014/main" val="2004851832"/>
                    </a:ext>
                  </a:extLst>
                </a:gridCol>
              </a:tblGrid>
              <a:tr h="370840">
                <a:tc>
                  <a:txBody>
                    <a:bodyPr/>
                    <a:lstStyle/>
                    <a:p>
                      <a:pPr algn="ctr"/>
                      <a:r>
                        <a:rPr lang="en-US" sz="1400">
                          <a:latin typeface="Arial" panose="020B0604020202020204" pitchFamily="34" charset="0"/>
                          <a:cs typeface="Arial" panose="020B0604020202020204" pitchFamily="34" charset="0"/>
                        </a:rPr>
                        <a:t>Page #</a:t>
                      </a:r>
                    </a:p>
                  </a:txBody>
                  <a:tcPr/>
                </a:tc>
                <a:tc>
                  <a:txBody>
                    <a:bodyPr/>
                    <a:lstStyle/>
                    <a:p>
                      <a:pPr algn="ctr"/>
                      <a:r>
                        <a:rPr lang="en-US" sz="1400">
                          <a:latin typeface="Arial" panose="020B0604020202020204" pitchFamily="34" charset="0"/>
                          <a:cs typeface="Arial" panose="020B0604020202020204" pitchFamily="34" charset="0"/>
                        </a:rPr>
                        <a:t>Activity</a:t>
                      </a:r>
                    </a:p>
                  </a:txBody>
                  <a:tcPr/>
                </a:tc>
                <a:tc>
                  <a:txBody>
                    <a:bodyPr/>
                    <a:lstStyle/>
                    <a:p>
                      <a:pPr algn="ctr"/>
                      <a:r>
                        <a:rPr lang="en-US" sz="1400">
                          <a:latin typeface="Arial" panose="020B0604020202020204" pitchFamily="34" charset="0"/>
                          <a:cs typeface="Arial" panose="020B0604020202020204" pitchFamily="34" charset="0"/>
                        </a:rPr>
                        <a:t>Activity Name</a:t>
                      </a:r>
                    </a:p>
                  </a:txBody>
                  <a:tcPr/>
                </a:tc>
                <a:tc>
                  <a:txBody>
                    <a:bodyPr/>
                    <a:lstStyle/>
                    <a:p>
                      <a:pPr algn="ctr"/>
                      <a:r>
                        <a:rPr lang="en-US" sz="1400">
                          <a:latin typeface="Arial" panose="020B0604020202020204" pitchFamily="34" charset="0"/>
                          <a:cs typeface="Arial" panose="020B0604020202020204" pitchFamily="34" charset="0"/>
                        </a:rPr>
                        <a:t>Optional?</a:t>
                      </a:r>
                    </a:p>
                  </a:txBody>
                  <a:tcPr/>
                </a:tc>
                <a:extLst>
                  <a:ext uri="{0D108BD9-81ED-4DB2-BD59-A6C34878D82A}">
                    <a16:rowId xmlns:a16="http://schemas.microsoft.com/office/drawing/2014/main" val="301037363"/>
                  </a:ext>
                </a:extLst>
              </a:tr>
              <a:tr h="370840">
                <a:tc>
                  <a:txBody>
                    <a:bodyPr/>
                    <a:lstStyle/>
                    <a:p>
                      <a:pPr algn="ctr" fontAlgn="t"/>
                      <a:r>
                        <a:rPr lang="en-US" sz="1400" b="0" i="0" u="none" strike="noStrike">
                          <a:solidFill>
                            <a:srgbClr val="000000"/>
                          </a:solidFill>
                          <a:effectLst/>
                          <a:latin typeface="Arial" panose="020B0604020202020204" pitchFamily="34" charset="0"/>
                        </a:rPr>
                        <a:t>2.1.1</a:t>
                      </a:r>
                    </a:p>
                  </a:txBody>
                  <a:tcPr marL="6350" marR="6350" marT="6350" marB="0" anchor="ctr"/>
                </a:tc>
                <a:tc>
                  <a:txBody>
                    <a:bodyPr/>
                    <a:lstStyle/>
                    <a:p>
                      <a:pPr algn="l" fontAlgn="t"/>
                      <a:r>
                        <a:rPr lang="en-US" sz="1400" b="0" i="0" u="none" strike="noStrike">
                          <a:solidFill>
                            <a:srgbClr val="000000"/>
                          </a:solidFill>
                          <a:effectLst/>
                          <a:latin typeface="Arial" panose="020B0604020202020204" pitchFamily="34" charset="0"/>
                        </a:rPr>
                        <a:t>Video</a:t>
                      </a:r>
                    </a:p>
                  </a:txBody>
                  <a:tcPr marL="6350" marR="6350" marT="6350" marB="0" anchor="ctr"/>
                </a:tc>
                <a:tc>
                  <a:txBody>
                    <a:bodyPr/>
                    <a:lstStyle/>
                    <a:p>
                      <a:pPr algn="l" fontAlgn="t"/>
                      <a:r>
                        <a:rPr lang="en-US" sz="1400" b="0" i="0" u="none" strike="noStrike">
                          <a:solidFill>
                            <a:srgbClr val="000000"/>
                          </a:solidFill>
                          <a:effectLst/>
                          <a:latin typeface="Arial" panose="020B0604020202020204" pitchFamily="34" charset="0"/>
                        </a:rPr>
                        <a:t>Video - Anatomy of an Attack</a:t>
                      </a:r>
                    </a:p>
                  </a:txBody>
                  <a:tcPr marL="6350" marR="6350" marT="6350" marB="0" anchor="ctr"/>
                </a:tc>
                <a:tc>
                  <a:txBody>
                    <a:bodyPr/>
                    <a:lstStyle/>
                    <a:p>
                      <a:pPr algn="ctr"/>
                      <a:r>
                        <a:rPr lang="en-US" sz="1400">
                          <a:latin typeface="Arial" panose="020B0604020202020204" pitchFamily="34" charset="0"/>
                          <a:cs typeface="Arial" panose="020B0604020202020204" pitchFamily="34" charset="0"/>
                        </a:rPr>
                        <a:t>Recommended</a:t>
                      </a:r>
                    </a:p>
                  </a:txBody>
                  <a:tcPr anchor="ctr"/>
                </a:tc>
                <a:extLst>
                  <a:ext uri="{0D108BD9-81ED-4DB2-BD59-A6C34878D82A}">
                    <a16:rowId xmlns:a16="http://schemas.microsoft.com/office/drawing/2014/main" val="2292220243"/>
                  </a:ext>
                </a:extLst>
              </a:tr>
              <a:tr h="370840">
                <a:tc>
                  <a:txBody>
                    <a:bodyPr/>
                    <a:lstStyle/>
                    <a:p>
                      <a:pPr algn="ctr" fontAlgn="t"/>
                      <a:r>
                        <a:rPr lang="en-US" sz="1400" b="0" i="0" u="none" strike="noStrike">
                          <a:solidFill>
                            <a:srgbClr val="000000"/>
                          </a:solidFill>
                          <a:effectLst/>
                          <a:latin typeface="Arial" panose="020B0604020202020204" pitchFamily="34" charset="0"/>
                        </a:rPr>
                        <a:t>2.1.6</a:t>
                      </a:r>
                    </a:p>
                  </a:txBody>
                  <a:tcPr marL="6350" marR="6350" marT="6350" marB="0" anchor="ctr"/>
                </a:tc>
                <a:tc>
                  <a:txBody>
                    <a:bodyPr/>
                    <a:lstStyle/>
                    <a:p>
                      <a:pPr algn="l" fontAlgn="t"/>
                      <a:r>
                        <a:rPr lang="en-US" sz="1400" b="0" i="0" u="none" strike="noStrike">
                          <a:solidFill>
                            <a:srgbClr val="000000"/>
                          </a:solidFill>
                          <a:effectLst/>
                          <a:latin typeface="Arial" panose="020B0604020202020204" pitchFamily="34" charset="0"/>
                        </a:rPr>
                        <a:t>Video</a:t>
                      </a:r>
                    </a:p>
                  </a:txBody>
                  <a:tcPr marL="6350" marR="6350" marT="6350" marB="0" anchor="ctr"/>
                </a:tc>
                <a:tc>
                  <a:txBody>
                    <a:bodyPr/>
                    <a:lstStyle/>
                    <a:p>
                      <a:pPr algn="l" fontAlgn="t"/>
                      <a:r>
                        <a:rPr lang="en-US" sz="1400" b="0" i="0" u="none" strike="noStrike">
                          <a:solidFill>
                            <a:srgbClr val="000000"/>
                          </a:solidFill>
                          <a:effectLst/>
                          <a:latin typeface="Arial" panose="020B0604020202020204" pitchFamily="34" charset="0"/>
                        </a:rPr>
                        <a:t>PT Video - Investigate a Threat Landscape</a:t>
                      </a:r>
                    </a:p>
                  </a:txBody>
                  <a:tcPr marL="6350" marR="6350" marT="635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latin typeface="Arial" panose="020B0604020202020204" pitchFamily="34" charset="0"/>
                          <a:cs typeface="Arial" panose="020B0604020202020204" pitchFamily="34" charset="0"/>
                        </a:rPr>
                        <a:t>Recommended</a:t>
                      </a:r>
                    </a:p>
                  </a:txBody>
                  <a:tcPr anchor="ctr"/>
                </a:tc>
                <a:extLst>
                  <a:ext uri="{0D108BD9-81ED-4DB2-BD59-A6C34878D82A}">
                    <a16:rowId xmlns:a16="http://schemas.microsoft.com/office/drawing/2014/main" val="421198333"/>
                  </a:ext>
                </a:extLst>
              </a:tr>
              <a:tr h="370840">
                <a:tc>
                  <a:txBody>
                    <a:bodyPr/>
                    <a:lstStyle/>
                    <a:p>
                      <a:pPr algn="ctr" fontAlgn="t"/>
                      <a:r>
                        <a:rPr lang="en-US" sz="1400" b="0" i="0" u="none" strike="noStrike">
                          <a:solidFill>
                            <a:srgbClr val="000000"/>
                          </a:solidFill>
                          <a:effectLst/>
                          <a:latin typeface="Arial" panose="020B0604020202020204" pitchFamily="34" charset="0"/>
                        </a:rPr>
                        <a:t>2.1.7</a:t>
                      </a:r>
                    </a:p>
                  </a:txBody>
                  <a:tcPr marL="6350" marR="6350" marT="6350" marB="0" anchor="ctr"/>
                </a:tc>
                <a:tc>
                  <a:txBody>
                    <a:bodyPr/>
                    <a:lstStyle/>
                    <a:p>
                      <a:pPr algn="l" fontAlgn="t"/>
                      <a:r>
                        <a:rPr lang="en-US" sz="1400" b="0" i="0" u="none" strike="noStrike">
                          <a:solidFill>
                            <a:srgbClr val="000000"/>
                          </a:solidFill>
                          <a:effectLst/>
                          <a:latin typeface="Arial" panose="020B0604020202020204" pitchFamily="34" charset="0"/>
                        </a:rPr>
                        <a:t>PT Activity</a:t>
                      </a:r>
                    </a:p>
                  </a:txBody>
                  <a:tcPr marL="6350" marR="6350" marT="6350" marB="0" anchor="ctr"/>
                </a:tc>
                <a:tc>
                  <a:txBody>
                    <a:bodyPr/>
                    <a:lstStyle/>
                    <a:p>
                      <a:pPr algn="l" fontAlgn="t"/>
                      <a:r>
                        <a:rPr lang="en-US" sz="1400" b="0" i="0" u="none" strike="noStrike">
                          <a:solidFill>
                            <a:srgbClr val="000000"/>
                          </a:solidFill>
                          <a:effectLst/>
                          <a:latin typeface="Arial" panose="020B0604020202020204" pitchFamily="34" charset="0"/>
                        </a:rPr>
                        <a:t>Packet Tracer - Investigate a Threat Landscape</a:t>
                      </a:r>
                    </a:p>
                  </a:txBody>
                  <a:tcPr marL="6350" marR="6350" marT="6350" marB="0" anchor="ctr"/>
                </a:tc>
                <a:tc>
                  <a:txBody>
                    <a:bodyPr/>
                    <a:lstStyle/>
                    <a:p>
                      <a:pPr algn="ctr"/>
                      <a:r>
                        <a:rPr lang="en-US" sz="1400">
                          <a:latin typeface="Arial" panose="020B0604020202020204" pitchFamily="34" charset="0"/>
                          <a:cs typeface="Arial" panose="020B0604020202020204" pitchFamily="34" charset="0"/>
                        </a:rPr>
                        <a:t>Recommended</a:t>
                      </a:r>
                    </a:p>
                  </a:txBody>
                  <a:tcPr anchor="ctr"/>
                </a:tc>
                <a:extLst>
                  <a:ext uri="{0D108BD9-81ED-4DB2-BD59-A6C34878D82A}">
                    <a16:rowId xmlns:a16="http://schemas.microsoft.com/office/drawing/2014/main" val="49409613"/>
                  </a:ext>
                </a:extLst>
              </a:tr>
              <a:tr h="370840">
                <a:tc>
                  <a:txBody>
                    <a:bodyPr/>
                    <a:lstStyle/>
                    <a:p>
                      <a:pPr algn="ctr" fontAlgn="t"/>
                      <a:r>
                        <a:rPr lang="en-US" sz="1400" b="0" i="0" u="none" strike="noStrike">
                          <a:solidFill>
                            <a:srgbClr val="000000"/>
                          </a:solidFill>
                          <a:effectLst/>
                          <a:latin typeface="Arial" panose="020B0604020202020204" pitchFamily="34" charset="0"/>
                        </a:rPr>
                        <a:t>2.2.8</a:t>
                      </a:r>
                    </a:p>
                  </a:txBody>
                  <a:tcPr marL="6350" marR="6350" marT="6350" marB="0" anchor="ctr"/>
                </a:tc>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a:solidFill>
                            <a:srgbClr val="000000"/>
                          </a:solidFill>
                          <a:effectLst/>
                          <a:latin typeface="Arial" panose="020B0604020202020204" pitchFamily="34" charset="0"/>
                          <a:cs typeface="Arial" panose="020B0604020202020204" pitchFamily="34" charset="0"/>
                        </a:rPr>
                        <a:t>Check Your Understanding</a:t>
                      </a:r>
                    </a:p>
                  </a:txBody>
                  <a:tcPr marL="6350" marR="6350" marT="6350" marB="0" anchor="ctr"/>
                </a:tc>
                <a:tc>
                  <a:txBody>
                    <a:bodyPr/>
                    <a:lstStyle/>
                    <a:p>
                      <a:pPr algn="l" fontAlgn="t"/>
                      <a:r>
                        <a:rPr lang="en-US" sz="1400" b="0" i="0" u="none" strike="noStrike">
                          <a:solidFill>
                            <a:srgbClr val="000000"/>
                          </a:solidFill>
                          <a:effectLst/>
                          <a:latin typeface="Arial" panose="020B0604020202020204" pitchFamily="34" charset="0"/>
                        </a:rPr>
                        <a:t>Check Your Understanding - What Color is my Hat?</a:t>
                      </a:r>
                    </a:p>
                  </a:txBody>
                  <a:tcPr marL="6350" marR="6350" marT="6350" marB="0" anchor="ctr"/>
                </a:tc>
                <a:tc>
                  <a:txBody>
                    <a:bodyPr/>
                    <a:lstStyle/>
                    <a:p>
                      <a:pPr algn="ctr"/>
                      <a:r>
                        <a:rPr lang="en-US" sz="1400">
                          <a:latin typeface="Arial" panose="020B0604020202020204" pitchFamily="34" charset="0"/>
                          <a:cs typeface="Arial" panose="020B0604020202020204" pitchFamily="34" charset="0"/>
                        </a:rPr>
                        <a:t>Recommended</a:t>
                      </a:r>
                    </a:p>
                  </a:txBody>
                  <a:tcPr anchor="ctr"/>
                </a:tc>
                <a:extLst>
                  <a:ext uri="{0D108BD9-81ED-4DB2-BD59-A6C34878D82A}">
                    <a16:rowId xmlns:a16="http://schemas.microsoft.com/office/drawing/2014/main" val="1004427888"/>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6</a:t>
            </a:fld>
            <a:endParaRPr lang="en-US"/>
          </a:p>
        </p:txBody>
      </p:sp>
      <p:sp>
        <p:nvSpPr>
          <p:cNvPr id="5" name="TextBox 4">
            <a:extLst>
              <a:ext uri="{FF2B5EF4-FFF2-40B4-BE49-F238E27FC236}">
                <a16:creationId xmlns:a16="http://schemas.microsoft.com/office/drawing/2014/main" id="{30D29610-E14B-E909-8E37-52F7D6D8E6A7}"/>
              </a:ext>
            </a:extLst>
          </p:cNvPr>
          <p:cNvSpPr txBox="1"/>
          <p:nvPr/>
        </p:nvSpPr>
        <p:spPr>
          <a:xfrm>
            <a:off x="2000250" y="4220936"/>
            <a:ext cx="3722914" cy="307777"/>
          </a:xfrm>
          <a:prstGeom prst="rect">
            <a:avLst/>
          </a:prstGeom>
          <a:noFill/>
        </p:spPr>
        <p:txBody>
          <a:bodyPr wrap="square" rtlCol="0">
            <a:spAutoFit/>
          </a:bodyPr>
          <a:lstStyle/>
          <a:p>
            <a:r>
              <a:rPr lang="en-US" sz="1400" dirty="0">
                <a:solidFill>
                  <a:srgbClr val="FF0000"/>
                </a:solidFill>
                <a:latin typeface="Arial" panose="020B0604020202020204" pitchFamily="34" charset="0"/>
                <a:cs typeface="Arial" panose="020B0604020202020204" pitchFamily="34" charset="0"/>
              </a:rPr>
              <a:t>Activity Wizard Password: PT_csp11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Module 2: Best Practices</a:t>
            </a:r>
            <a:endParaRPr lang="en-US" sz="1600"/>
          </a:p>
        </p:txBody>
      </p:sp>
      <p:sp>
        <p:nvSpPr>
          <p:cNvPr id="3" name="Text 1"/>
          <p:cNvSpPr/>
          <p:nvPr/>
        </p:nvSpPr>
        <p:spPr>
          <a:xfrm>
            <a:off x="0" y="557718"/>
            <a:ext cx="8229600" cy="3994827"/>
          </a:xfrm>
          <a:prstGeom prst="rect">
            <a:avLst/>
          </a:prstGeom>
          <a:noFill/>
          <a:ln/>
        </p:spPr>
        <p:txBody>
          <a:bodyPr wrap="square" rtlCol="0" anchor="t"/>
          <a:lstStyle/>
          <a:p>
            <a:pPr marL="0" marR="0" lvl="0" indent="0" algn="l" defTabSz="684213" rtl="0" eaLnBrk="1" fontAlgn="base" latinLnBrk="0" hangingPunct="1">
              <a:lnSpc>
                <a:spcPct val="85000"/>
              </a:lnSpc>
              <a:spcBef>
                <a:spcPct val="30000"/>
              </a:spcBef>
              <a:spcAft>
                <a:spcPts val="600"/>
              </a:spcAft>
              <a:buClr>
                <a:srgbClr val="58585B"/>
              </a:buClr>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charset="0"/>
                <a:cs typeface="Arial" panose="020B0604020202020204" pitchFamily="34" charset="0"/>
              </a:rPr>
              <a:t>Before teaching Module 2, the instructor should:</a:t>
            </a:r>
          </a:p>
          <a:p>
            <a:pPr marL="169863" marR="0" lvl="0" indent="-169863" algn="l" defTabSz="684213" rtl="0" eaLnBrk="1" fontAlgn="base" latinLnBrk="0" hangingPunct="1">
              <a:lnSpc>
                <a:spcPct val="85000"/>
              </a:lnSpc>
              <a:spcBef>
                <a:spcPct val="30000"/>
              </a:spcBef>
              <a:spcAft>
                <a:spcPts val="600"/>
              </a:spcAft>
              <a:buClr>
                <a:srgbClr val="58585B"/>
              </a:buClr>
              <a:buSzPct val="90000"/>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charset="0"/>
                <a:cs typeface="Arial" panose="020B0604020202020204" pitchFamily="34" charset="0"/>
              </a:rPr>
              <a:t>Review the activities and assessments for this module.</a:t>
            </a:r>
          </a:p>
          <a:p>
            <a:pPr marL="169863" marR="0" lvl="0" indent="-169863" algn="l" defTabSz="684213" rtl="0" eaLnBrk="1" fontAlgn="base" latinLnBrk="0" hangingPunct="1">
              <a:lnSpc>
                <a:spcPct val="85000"/>
              </a:lnSpc>
              <a:spcBef>
                <a:spcPct val="30000"/>
              </a:spcBef>
              <a:spcAft>
                <a:spcPts val="600"/>
              </a:spcAft>
              <a:buClr>
                <a:srgbClr val="58585B"/>
              </a:buClr>
              <a:buSzPct val="90000"/>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charset="0"/>
                <a:cs typeface="Arial" panose="020B0604020202020204" pitchFamily="34" charset="0"/>
              </a:rPr>
              <a:t>Try to include as many questions as possible to keep students engaged during classroom presentations.</a:t>
            </a:r>
          </a:p>
          <a:p>
            <a:pPr marL="0" marR="0" lvl="0" indent="0" algn="l" defTabSz="684213" rtl="0" eaLnBrk="1" fontAlgn="base" latinLnBrk="0" hangingPunct="1">
              <a:lnSpc>
                <a:spcPct val="85000"/>
              </a:lnSpc>
              <a:spcBef>
                <a:spcPct val="30000"/>
              </a:spcBef>
              <a:spcAft>
                <a:spcPts val="600"/>
              </a:spcAft>
              <a:buClr>
                <a:srgbClr val="58585B"/>
              </a:buClr>
              <a:buSzPct val="90000"/>
              <a:buFont typeface="Wingdings" panose="05000000000000000000" pitchFamily="2" charset="2"/>
              <a:buNone/>
              <a:tabLst/>
              <a:defRPr/>
            </a:pPr>
            <a:endParaRPr kumimoji="0" 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charset="0"/>
              <a:cs typeface="Arial" panose="020B0604020202020204" pitchFamily="34" charset="0"/>
            </a:endParaRPr>
          </a:p>
          <a:p>
            <a:pPr marL="0" marR="0" lvl="0" indent="0" algn="l" defTabSz="684213" rtl="0" eaLnBrk="1" fontAlgn="base" latinLnBrk="0" hangingPunct="1">
              <a:lnSpc>
                <a:spcPct val="85000"/>
              </a:lnSpc>
              <a:spcBef>
                <a:spcPct val="30000"/>
              </a:spcBef>
              <a:spcAft>
                <a:spcPts val="600"/>
              </a:spcAft>
              <a:buClr>
                <a:srgbClr val="58585B"/>
              </a:buClr>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charset="0"/>
                <a:cs typeface="Arial" panose="020B0604020202020204" pitchFamily="34" charset="0"/>
              </a:rPr>
              <a:t>Topic 2.1</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US" altLang="ja-JP" sz="1400" b="0" i="0" u="none" strike="noStrike" kern="1200" cap="none" spc="0" normalizeH="0" baseline="0" noProof="0">
                <a:ln>
                  <a:noFill/>
                </a:ln>
                <a:solidFill>
                  <a:srgbClr val="000000"/>
                </a:solidFill>
                <a:effectLst/>
                <a:uLnTx/>
                <a:uFillTx/>
                <a:latin typeface="Arial" panose="020B0604020202020204" pitchFamily="34" charset="0"/>
                <a:ea typeface="ＭＳ Ｐゴシック" charset="0"/>
                <a:cs typeface="Arial" panose="020B0604020202020204" pitchFamily="34" charset="0"/>
              </a:rPr>
              <a:t>Open a web browser, visit </a:t>
            </a:r>
            <a:r>
              <a:rPr kumimoji="0" lang="en-US" altLang="ja-JP" sz="1400" b="0" i="0" u="none" strike="noStrike" kern="1200" cap="none" spc="0" normalizeH="0" baseline="0" noProof="0">
                <a:ln>
                  <a:noFill/>
                </a:ln>
                <a:solidFill>
                  <a:srgbClr val="000000"/>
                </a:solidFill>
                <a:effectLst/>
                <a:uLnTx/>
                <a:uFillTx/>
                <a:latin typeface="Arial" panose="020B0604020202020204" pitchFamily="34" charset="0"/>
                <a:ea typeface="ＭＳ Ｐゴシック" charset="0"/>
                <a:cs typeface="Arial" panose="020B0604020202020204" pitchFamily="34" charset="0"/>
                <a:hlinkClick r:id="rId3"/>
              </a:rPr>
              <a:t>https://cybermap.Kaspersky.com/</a:t>
            </a:r>
            <a:r>
              <a:rPr kumimoji="0" lang="en-US" altLang="ja-JP" sz="1400" b="0" i="0" u="none" strike="noStrike" kern="1200" cap="none" spc="0" normalizeH="0" baseline="0" noProof="0">
                <a:ln>
                  <a:noFill/>
                </a:ln>
                <a:solidFill>
                  <a:srgbClr val="000000"/>
                </a:solidFill>
                <a:effectLst/>
                <a:uLnTx/>
                <a:uFillTx/>
                <a:latin typeface="Arial" panose="020B0604020202020204" pitchFamily="34" charset="0"/>
                <a:ea typeface="ＭＳ Ｐゴシック" charset="0"/>
                <a:cs typeface="Arial" panose="020B0604020202020204" pitchFamily="34" charset="0"/>
              </a:rPr>
              <a:t>, explore MAP, and ask students to choose different countries. If time allows, show the Statistics </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US" altLang="ja-JP" sz="1400" b="0" i="0" u="none" strike="noStrike" kern="1200" cap="none" spc="0" normalizeH="0" baseline="0" noProof="0">
                <a:ln>
                  <a:noFill/>
                </a:ln>
                <a:solidFill>
                  <a:srgbClr val="000000"/>
                </a:solidFill>
                <a:effectLst/>
                <a:uLnTx/>
                <a:uFillTx/>
                <a:latin typeface="Arial" panose="020B0604020202020204" pitchFamily="34" charset="0"/>
                <a:ea typeface="ＭＳ Ｐゴシック" charset="0"/>
                <a:cs typeface="Arial" panose="020B0604020202020204" pitchFamily="34" charset="0"/>
              </a:rPr>
              <a:t>Discuss in the class:</a:t>
            </a:r>
          </a:p>
          <a:p>
            <a:pPr marL="431800" marR="0" lvl="2" indent="-169863" algn="l" defTabSz="684213" rtl="0" eaLnBrk="1" fontAlgn="base" latinLnBrk="0" hangingPunct="1">
              <a:lnSpc>
                <a:spcPct val="100000"/>
              </a:lnSpc>
              <a:spcBef>
                <a:spcPts val="300"/>
              </a:spcBef>
              <a:spcAft>
                <a:spcPts val="300"/>
              </a:spcAft>
              <a:buClrTx/>
              <a:buSzTx/>
              <a:buFont typeface="Arial" charset="0"/>
              <a:buChar char="•"/>
              <a:tabLst/>
              <a:defRPr/>
            </a:pPr>
            <a:r>
              <a:rPr kumimoji="0" lang="en-US" altLang="ja-JP" sz="1400" b="0" i="0" u="none" strike="noStrike" kern="1200" cap="none" spc="0" normalizeH="0" baseline="0" noProof="0">
                <a:ln>
                  <a:noFill/>
                </a:ln>
                <a:solidFill>
                  <a:srgbClr val="000000"/>
                </a:solidFill>
                <a:effectLst/>
                <a:uLnTx/>
                <a:uFillTx/>
                <a:latin typeface="Arial" panose="020B0604020202020204" pitchFamily="34" charset="0"/>
                <a:ea typeface="ＭＳ Ｐゴシック" charset="0"/>
                <a:cs typeface="Arial" panose="020B0604020202020204" pitchFamily="34" charset="0"/>
              </a:rPr>
              <a:t>What are the reasons for network security?</a:t>
            </a:r>
          </a:p>
          <a:p>
            <a:pPr marL="431800" marR="0" lvl="2" indent="-169863" algn="l" defTabSz="684213" rtl="0" eaLnBrk="1" fontAlgn="base" latinLnBrk="0" hangingPunct="1">
              <a:lnSpc>
                <a:spcPct val="100000"/>
              </a:lnSpc>
              <a:spcBef>
                <a:spcPts val="300"/>
              </a:spcBef>
              <a:spcAft>
                <a:spcPts val="300"/>
              </a:spcAft>
              <a:buClrTx/>
              <a:buSzTx/>
              <a:buFont typeface="Arial" charset="0"/>
              <a:buChar char="•"/>
              <a:tabLst/>
              <a:defRPr/>
            </a:pPr>
            <a:r>
              <a:rPr kumimoji="0" lang="en-US" altLang="ja-JP" sz="1400" b="0" i="0" u="none" strike="noStrike" kern="1200" cap="none" spc="0" normalizeH="0" baseline="0" noProof="0">
                <a:ln>
                  <a:noFill/>
                </a:ln>
                <a:solidFill>
                  <a:srgbClr val="000000"/>
                </a:solidFill>
                <a:effectLst/>
                <a:uLnTx/>
                <a:uFillTx/>
                <a:latin typeface="Arial" panose="020B0604020202020204" pitchFamily="34" charset="0"/>
                <a:ea typeface="ＭＳ Ｐゴシック" charset="0"/>
                <a:cs typeface="Arial" panose="020B0604020202020204" pitchFamily="34" charset="0"/>
              </a:rPr>
              <a:t>While covering 2.1.5, ask students to think about what damages are caused by data loss.</a:t>
            </a:r>
            <a:endParaRPr lang="en-US" sz="1400">
              <a:latin typeface="Arial" panose="020B0604020202020204" pitchFamily="34" charset="0"/>
              <a:cs typeface="Arial" panose="020B0604020202020204" pitchFamily="34" charset="0"/>
            </a:endParaRPr>
          </a:p>
          <a:p>
            <a:pPr>
              <a:lnSpc>
                <a:spcPts val="2000"/>
              </a:lnSpc>
            </a:pPr>
            <a:endParaRPr lang="en-US" sz="1400">
              <a:latin typeface="Arial" panose="020B0604020202020204" pitchFamily="34" charset="0"/>
              <a:cs typeface="Arial" panose="020B0604020202020204" pitchFamily="34" charset="0"/>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1543050"/>
            <a:ext cx="6400800" cy="2571750"/>
          </a:xfrm>
          <a:prstGeom prst="rect">
            <a:avLst/>
          </a:prstGeom>
          <a:noFill/>
          <a:ln/>
        </p:spPr>
        <p:txBody>
          <a:bodyPr wrap="square" rtlCol="0" anchor="ctr"/>
          <a:lstStyle/>
          <a:p>
            <a:pPr marL="0" indent="0">
              <a:buNone/>
            </a:pPr>
            <a:r>
              <a:rPr lang="en-US" sz="4200" dirty="0">
                <a:solidFill>
                  <a:srgbClr val="AFE8FB"/>
                </a:solidFill>
                <a:latin typeface="Arial" pitchFamily="34" charset="0"/>
                <a:ea typeface="Arial" pitchFamily="34" charset="-122"/>
                <a:cs typeface="Arial" pitchFamily="34" charset="-120"/>
              </a:rPr>
              <a:t>Module 2: Securing Networks</a:t>
            </a:r>
            <a:endParaRPr lang="en-US" sz="4200" dirty="0"/>
          </a:p>
        </p:txBody>
      </p:sp>
      <p:sp>
        <p:nvSpPr>
          <p:cNvPr id="3" name="Text 0"/>
          <p:cNvSpPr>
            <a:spLocks noGrp="1"/>
          </p:cNvSpPr>
          <p:nvPr>
            <p:ph type="body" idx="101" hasCustomPrompt="1"/>
          </p:nvPr>
        </p:nvSpPr>
        <p:spPr>
          <a:xfrm>
            <a:off x="457200" y="4114800"/>
            <a:ext cx="3657600" cy="914400"/>
          </a:xfrm>
          <a:prstGeom prst="rect">
            <a:avLst/>
          </a:prstGeom>
          <a:noFill/>
          <a:ln/>
        </p:spPr>
        <p:txBody>
          <a:bodyPr wrap="square" rtlCol="0" anchor="t"/>
          <a:lstStyle/>
          <a:p>
            <a:pPr marL="0" indent="0">
              <a:buNone/>
            </a:pPr>
            <a:r>
              <a:rPr lang="en-US" sz="1200" dirty="0">
                <a:solidFill>
                  <a:srgbClr val="AFE8FB"/>
                </a:solidFill>
                <a:latin typeface="Arial" pitchFamily="34" charset="0"/>
                <a:ea typeface="Arial" pitchFamily="34" charset="-122"/>
                <a:cs typeface="Arial" pitchFamily="34" charset="-120"/>
              </a:rPr>
              <a:t>Cybersecurity Essentials 3.0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457200"/>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Module Objectives</a:t>
            </a:r>
            <a:endParaRPr lang="en-US" sz="2200" dirty="0"/>
          </a:p>
        </p:txBody>
      </p:sp>
      <p:sp>
        <p:nvSpPr>
          <p:cNvPr id="5" name="Rectangle 34">
            <a:extLst>
              <a:ext uri="{FF2B5EF4-FFF2-40B4-BE49-F238E27FC236}">
                <a16:creationId xmlns:a16="http://schemas.microsoft.com/office/drawing/2014/main" id="{7188AF34-F17D-65FE-91B6-733B90851DC8}"/>
              </a:ext>
            </a:extLst>
          </p:cNvPr>
          <p:cNvSpPr txBox="1">
            <a:spLocks noChangeArrowheads="1"/>
          </p:cNvSpPr>
          <p:nvPr/>
        </p:nvSpPr>
        <p:spPr>
          <a:xfrm>
            <a:off x="116793" y="460408"/>
            <a:ext cx="8695135" cy="58338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ct val="30000"/>
              </a:spcBef>
              <a:buFont typeface="Arial" pitchFamily="34" charset="0"/>
              <a:buNone/>
            </a:pPr>
            <a:r>
              <a:rPr lang="en-US" sz="1400" b="1" dirty="0">
                <a:latin typeface="Arial" panose="020B0604020202020204" pitchFamily="34" charset="0"/>
                <a:cs typeface="Arial" panose="020B0604020202020204" pitchFamily="34" charset="0"/>
              </a:rPr>
              <a:t>Module Title:</a:t>
            </a:r>
            <a:r>
              <a:rPr lang="en-US" sz="1400" dirty="0">
                <a:latin typeface="Arial" panose="020B0604020202020204" pitchFamily="34" charset="0"/>
                <a:cs typeface="Arial" panose="020B0604020202020204" pitchFamily="34" charset="0"/>
              </a:rPr>
              <a:t> Securing Networks</a:t>
            </a:r>
          </a:p>
          <a:p>
            <a:pPr marL="0" indent="0">
              <a:spcBef>
                <a:spcPct val="30000"/>
              </a:spcBef>
              <a:buFont typeface="Arial" pitchFamily="34" charset="0"/>
              <a:buNone/>
            </a:pPr>
            <a:r>
              <a:rPr lang="en-US" sz="1400" b="1" dirty="0">
                <a:latin typeface="Arial" panose="020B0604020202020204" pitchFamily="34" charset="0"/>
                <a:cs typeface="Arial" panose="020B0604020202020204" pitchFamily="34" charset="0"/>
              </a:rPr>
              <a:t>Module Objective:</a:t>
            </a:r>
            <a:r>
              <a:rPr lang="en-US" sz="1400" dirty="0">
                <a:latin typeface="Arial" panose="020B0604020202020204" pitchFamily="34" charset="0"/>
                <a:cs typeface="Arial" panose="020B0604020202020204" pitchFamily="34" charset="0"/>
              </a:rPr>
              <a:t> Explain network security principles.</a:t>
            </a:r>
          </a:p>
        </p:txBody>
      </p:sp>
      <p:graphicFrame>
        <p:nvGraphicFramePr>
          <p:cNvPr id="4" name="Table 4">
            <a:extLst>
              <a:ext uri="{FF2B5EF4-FFF2-40B4-BE49-F238E27FC236}">
                <a16:creationId xmlns:a16="http://schemas.microsoft.com/office/drawing/2014/main" id="{40064EF4-EE2B-342C-EA9E-699582F380FF}"/>
              </a:ext>
            </a:extLst>
          </p:cNvPr>
          <p:cNvGraphicFramePr>
            <a:graphicFrameLocks noGrp="1"/>
          </p:cNvGraphicFramePr>
          <p:nvPr>
            <p:extLst>
              <p:ext uri="{D42A27DB-BD31-4B8C-83A1-F6EECF244321}">
                <p14:modId xmlns:p14="http://schemas.microsoft.com/office/powerpoint/2010/main" val="1317688577"/>
              </p:ext>
            </p:extLst>
          </p:nvPr>
        </p:nvGraphicFramePr>
        <p:xfrm>
          <a:off x="286996" y="1429313"/>
          <a:ext cx="8354728" cy="1407160"/>
        </p:xfrm>
        <a:graphic>
          <a:graphicData uri="http://schemas.openxmlformats.org/drawingml/2006/table">
            <a:tbl>
              <a:tblPr firstRow="1" bandRow="1">
                <a:tableStyleId>{5C22544A-7EE6-4342-B048-85BDC9FD1C3A}</a:tableStyleId>
              </a:tblPr>
              <a:tblGrid>
                <a:gridCol w="2437968">
                  <a:extLst>
                    <a:ext uri="{9D8B030D-6E8A-4147-A177-3AD203B41FA5}">
                      <a16:colId xmlns:a16="http://schemas.microsoft.com/office/drawing/2014/main" val="1540795028"/>
                    </a:ext>
                  </a:extLst>
                </a:gridCol>
                <a:gridCol w="5916760">
                  <a:extLst>
                    <a:ext uri="{9D8B030D-6E8A-4147-A177-3AD203B41FA5}">
                      <a16:colId xmlns:a16="http://schemas.microsoft.com/office/drawing/2014/main" val="2968452238"/>
                    </a:ext>
                  </a:extLst>
                </a:gridCol>
              </a:tblGrid>
              <a:tr h="370840">
                <a:tc>
                  <a:txBody>
                    <a:bodyPr/>
                    <a:lstStyle/>
                    <a:p>
                      <a:pPr algn="l"/>
                      <a:r>
                        <a:rPr lang="en-US" sz="1400">
                          <a:latin typeface="Arial" panose="020B0604020202020204" pitchFamily="34" charset="0"/>
                          <a:cs typeface="Arial" panose="020B0604020202020204" pitchFamily="34" charset="0"/>
                        </a:rPr>
                        <a:t>Topic Title</a:t>
                      </a:r>
                    </a:p>
                  </a:txBody>
                  <a:tcPr/>
                </a:tc>
                <a:tc>
                  <a:txBody>
                    <a:bodyPr/>
                    <a:lstStyle/>
                    <a:p>
                      <a:pPr algn="l"/>
                      <a:r>
                        <a:rPr lang="en-US" sz="1400">
                          <a:latin typeface="Arial" panose="020B0604020202020204" pitchFamily="34" charset="0"/>
                          <a:cs typeface="Arial" panose="020B0604020202020204" pitchFamily="34" charset="0"/>
                        </a:rPr>
                        <a:t>Topic Objective</a:t>
                      </a:r>
                    </a:p>
                  </a:txBody>
                  <a:tcPr/>
                </a:tc>
                <a:extLst>
                  <a:ext uri="{0D108BD9-81ED-4DB2-BD59-A6C34878D82A}">
                    <a16:rowId xmlns:a16="http://schemas.microsoft.com/office/drawing/2014/main" val="317262977"/>
                  </a:ext>
                </a:extLst>
              </a:tr>
              <a:tr h="370840">
                <a:tc>
                  <a:txBody>
                    <a:bodyPr/>
                    <a:lstStyle/>
                    <a:p>
                      <a:r>
                        <a:rPr lang="en-US" sz="1400" b="1">
                          <a:latin typeface="Arial" panose="020B0604020202020204" pitchFamily="34" charset="0"/>
                          <a:cs typeface="Arial" panose="020B0604020202020204" pitchFamily="34" charset="0"/>
                        </a:rPr>
                        <a:t>Current State of Affairs</a:t>
                      </a:r>
                      <a:endParaRPr lang="en-US" sz="1400">
                        <a:latin typeface="Arial" panose="020B0604020202020204" pitchFamily="34" charset="0"/>
                        <a:cs typeface="Arial" panose="020B0604020202020204" pitchFamily="34" charset="0"/>
                      </a:endParaRPr>
                    </a:p>
                  </a:txBody>
                  <a:tcPr anchor="ctr"/>
                </a:tc>
                <a:tc>
                  <a:txBody>
                    <a:bodyPr/>
                    <a:lstStyle/>
                    <a:p>
                      <a:r>
                        <a:rPr lang="en-US" sz="1400" dirty="0">
                          <a:latin typeface="Arial" panose="020B0604020202020204" pitchFamily="34" charset="0"/>
                          <a:cs typeface="Arial" panose="020B0604020202020204" pitchFamily="34" charset="0"/>
                        </a:rPr>
                        <a:t>Explain the threats, vulnerabilities, and attacks that occur in the various domains.</a:t>
                      </a:r>
                    </a:p>
                  </a:txBody>
                  <a:tcPr anchor="ctr"/>
                </a:tc>
                <a:extLst>
                  <a:ext uri="{0D108BD9-81ED-4DB2-BD59-A6C34878D82A}">
                    <a16:rowId xmlns:a16="http://schemas.microsoft.com/office/drawing/2014/main" val="2377890904"/>
                  </a:ext>
                </a:extLst>
              </a:tr>
              <a:tr h="370840">
                <a:tc>
                  <a:txBody>
                    <a:bodyPr/>
                    <a:lstStyle/>
                    <a:p>
                      <a:r>
                        <a:rPr lang="en-US" sz="1400" b="1">
                          <a:latin typeface="Arial" panose="020B0604020202020204" pitchFamily="34" charset="0"/>
                          <a:cs typeface="Arial" panose="020B0604020202020204" pitchFamily="34" charset="0"/>
                        </a:rPr>
                        <a:t>Who is Attacking Our Network?</a:t>
                      </a:r>
                      <a:endParaRPr lang="en-US" sz="1400">
                        <a:latin typeface="Arial" panose="020B0604020202020204" pitchFamily="34" charset="0"/>
                        <a:cs typeface="Arial" panose="020B0604020202020204" pitchFamily="34" charset="0"/>
                      </a:endParaRPr>
                    </a:p>
                  </a:txBody>
                  <a:tcPr anchor="ctr">
                    <a:solidFill>
                      <a:srgbClr val="E9EBF5"/>
                    </a:solidFill>
                  </a:tcPr>
                </a:tc>
                <a:tc>
                  <a:txBody>
                    <a:bodyPr/>
                    <a:lstStyle/>
                    <a:p>
                      <a:r>
                        <a:rPr lang="en-US" sz="1400" dirty="0">
                          <a:latin typeface="Arial" panose="020B0604020202020204" pitchFamily="34" charset="0"/>
                          <a:cs typeface="Arial" panose="020B0604020202020204" pitchFamily="34" charset="0"/>
                        </a:rPr>
                        <a:t>Explain how network threats have evolved.</a:t>
                      </a:r>
                    </a:p>
                  </a:txBody>
                  <a:tcPr anchor="ctr"/>
                </a:tc>
                <a:extLst>
                  <a:ext uri="{0D108BD9-81ED-4DB2-BD59-A6C34878D82A}">
                    <a16:rowId xmlns:a16="http://schemas.microsoft.com/office/drawing/2014/main" val="2281025351"/>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9</a:t>
            </a:fld>
            <a:endParaRPr lang="en-US"/>
          </a:p>
        </p:txBody>
      </p:sp>
    </p:spTree>
    <p:extLst>
      <p:ext uri="{BB962C8B-B14F-4D97-AF65-F5344CB8AC3E}">
        <p14:creationId xmlns:p14="http://schemas.microsoft.com/office/powerpoint/2010/main" val="1525672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sz="4600" dirty="0">
                <a:latin typeface="Arial" pitchFamily="34" charset="0"/>
                <a:ea typeface="Arial" pitchFamily="34" charset="-122"/>
                <a:cs typeface="Arial" pitchFamily="34" charset="-120"/>
              </a:rPr>
              <a:t>2.1 Current State of Affairs</a:t>
            </a:r>
            <a:endParaRPr lang="en-US" sz="4600" dirty="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Current State of Affairs</a:t>
            </a:r>
            <a:endParaRPr lang="en-US" sz="1600" dirty="0"/>
          </a:p>
        </p:txBody>
      </p:sp>
      <p:sp>
        <p:nvSpPr>
          <p:cNvPr id="3" name="Text 0"/>
          <p:cNvSpPr>
            <a:spLocks noGrp="1"/>
          </p:cNvSpPr>
          <p:nvPr>
            <p:ph type="body" idx="100" hasCustomPrompt="1"/>
          </p:nvPr>
        </p:nvSpPr>
        <p:spPr>
          <a:xfrm>
            <a:off x="0" y="274320"/>
            <a:ext cx="9144000" cy="588041"/>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Video - Anatomy of an Attack</a:t>
            </a:r>
            <a:endParaRPr lang="en-US" sz="2200" dirty="0"/>
          </a:p>
        </p:txBody>
      </p:sp>
      <p:sp>
        <p:nvSpPr>
          <p:cNvPr id="5" name="Text 2"/>
          <p:cNvSpPr/>
          <p:nvPr/>
        </p:nvSpPr>
        <p:spPr>
          <a:xfrm>
            <a:off x="1148316" y="1285875"/>
            <a:ext cx="6542568" cy="2571750"/>
          </a:xfrm>
          <a:prstGeom prst="rect">
            <a:avLst/>
          </a:prstGeom>
          <a:noFill/>
          <a:ln/>
        </p:spPr>
        <p:txBody>
          <a:bodyPr wrap="square" rtlCol="0" anchor="t"/>
          <a:lstStyle/>
          <a:p>
            <a:pPr>
              <a:lnSpc>
                <a:spcPts val="2000"/>
              </a:lnSpc>
            </a:pPr>
            <a:r>
              <a:rPr lang="en-US" sz="1400" dirty="0">
                <a:latin typeface="Arial" panose="020B0604020202020204" pitchFamily="34" charset="0"/>
                <a:cs typeface="Arial" panose="020B0604020202020204" pitchFamily="34" charset="0"/>
              </a:rPr>
              <a:t>This video shows a sampling of what cybersecurity professionals do. Cisco Security Architect, Matt Carling, offers the defender's point of view and why a "Defense in Depth" layer approach is best.</a:t>
            </a:r>
            <a:endParaRPr lang="en-US" sz="1400" dirty="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Current State of Affairs</a:t>
            </a:r>
            <a:endParaRPr lang="en-US" sz="1600"/>
          </a:p>
        </p:txBody>
      </p:sp>
      <p:sp>
        <p:nvSpPr>
          <p:cNvPr id="3" name="Text 0"/>
          <p:cNvSpPr>
            <a:spLocks noGrp="1"/>
          </p:cNvSpPr>
          <p:nvPr>
            <p:ph type="body" idx="100" hasCustomPrompt="1"/>
          </p:nvPr>
        </p:nvSpPr>
        <p:spPr>
          <a:xfrm>
            <a:off x="0" y="274320"/>
            <a:ext cx="9144000" cy="91440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Networks Are Targets</a:t>
            </a:r>
            <a:endParaRPr lang="en-US" sz="2200"/>
          </a:p>
        </p:txBody>
      </p:sp>
      <p:sp>
        <p:nvSpPr>
          <p:cNvPr id="5" name="Text 2"/>
          <p:cNvSpPr/>
          <p:nvPr/>
        </p:nvSpPr>
        <p:spPr>
          <a:xfrm>
            <a:off x="172886" y="1442009"/>
            <a:ext cx="4699590" cy="2172908"/>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sz="1400">
                <a:solidFill>
                  <a:srgbClr val="000000"/>
                </a:solidFill>
                <a:latin typeface="Arial" pitchFamily="34" charset="0"/>
                <a:ea typeface="Arial" pitchFamily="34" charset="-122"/>
                <a:cs typeface="Arial" pitchFamily="34" charset="-120"/>
              </a:rPr>
              <a:t>Computer networks are routinely under attack.</a:t>
            </a:r>
          </a:p>
          <a:p>
            <a:pPr marL="285750" indent="-285750">
              <a:lnSpc>
                <a:spcPts val="2000"/>
              </a:lnSpc>
              <a:buFont typeface="Arial" panose="020B0604020202020204" pitchFamily="34" charset="0"/>
              <a:buChar char="•"/>
            </a:pPr>
            <a:r>
              <a:rPr lang="en-US" sz="1400" err="1">
                <a:solidFill>
                  <a:srgbClr val="000000"/>
                </a:solidFill>
                <a:latin typeface="Arial" pitchFamily="34" charset="0"/>
                <a:cs typeface="Arial" pitchFamily="34" charset="-120"/>
              </a:rPr>
              <a:t>Kapersky</a:t>
            </a:r>
            <a:r>
              <a:rPr lang="en-US" sz="1400">
                <a:solidFill>
                  <a:srgbClr val="000000"/>
                </a:solidFill>
                <a:latin typeface="Arial" pitchFamily="34" charset="0"/>
                <a:cs typeface="Arial" pitchFamily="34" charset="-120"/>
              </a:rPr>
              <a:t> maintains the interactive Cyberthreat Real-Time Map display of current network attacks.</a:t>
            </a:r>
          </a:p>
          <a:p>
            <a:pPr marL="285750" indent="-285750">
              <a:lnSpc>
                <a:spcPts val="2000"/>
              </a:lnSpc>
              <a:buFont typeface="Arial" panose="020B0604020202020204" pitchFamily="34" charset="0"/>
              <a:buChar char="•"/>
            </a:pPr>
            <a:r>
              <a:rPr lang="en-US" sz="1400">
                <a:solidFill>
                  <a:srgbClr val="000000"/>
                </a:solidFill>
                <a:latin typeface="Arial" pitchFamily="34" charset="0"/>
                <a:cs typeface="Arial" pitchFamily="34" charset="-120"/>
              </a:rPr>
              <a:t>The attack data is submitted from </a:t>
            </a:r>
            <a:r>
              <a:rPr lang="en-US" sz="1400" err="1">
                <a:solidFill>
                  <a:srgbClr val="000000"/>
                </a:solidFill>
                <a:latin typeface="Arial" pitchFamily="34" charset="0"/>
                <a:cs typeface="Arial" pitchFamily="34" charset="-120"/>
              </a:rPr>
              <a:t>Kapersky</a:t>
            </a:r>
            <a:r>
              <a:rPr lang="en-US" sz="1400">
                <a:solidFill>
                  <a:srgbClr val="000000"/>
                </a:solidFill>
                <a:latin typeface="Arial" pitchFamily="34" charset="0"/>
                <a:cs typeface="Arial" pitchFamily="34" charset="-120"/>
              </a:rPr>
              <a:t> network security products deployed worldwide. </a:t>
            </a:r>
          </a:p>
          <a:p>
            <a:pPr marL="285750" indent="-285750">
              <a:lnSpc>
                <a:spcPts val="2000"/>
              </a:lnSpc>
              <a:buFont typeface="Arial" panose="020B0604020202020204" pitchFamily="34" charset="0"/>
              <a:buChar char="•"/>
            </a:pPr>
            <a:r>
              <a:rPr lang="en-US" sz="1400">
                <a:solidFill>
                  <a:srgbClr val="000000"/>
                </a:solidFill>
                <a:latin typeface="Arial" pitchFamily="34" charset="0"/>
                <a:cs typeface="Arial" pitchFamily="34" charset="-120"/>
              </a:rPr>
              <a:t>Many similar tools are available on the internet and can be found by searching for cyber threat maps.</a:t>
            </a:r>
          </a:p>
        </p:txBody>
      </p:sp>
      <p:pic>
        <p:nvPicPr>
          <p:cNvPr id="6" name="Picture 5" descr="A screenshot of a computer&#10;&#10;Description automatically generated with medium confidence">
            <a:extLst>
              <a:ext uri="{FF2B5EF4-FFF2-40B4-BE49-F238E27FC236}">
                <a16:creationId xmlns:a16="http://schemas.microsoft.com/office/drawing/2014/main" id="{A87DD0B1-3F71-3A07-38C1-CAB4FD370D12}"/>
              </a:ext>
            </a:extLst>
          </p:cNvPr>
          <p:cNvPicPr>
            <a:picLocks noChangeAspect="1"/>
          </p:cNvPicPr>
          <p:nvPr/>
        </p:nvPicPr>
        <p:blipFill>
          <a:blip r:embed="rId3"/>
          <a:stretch>
            <a:fillRect/>
          </a:stretch>
        </p:blipFill>
        <p:spPr>
          <a:xfrm>
            <a:off x="4990717" y="1439604"/>
            <a:ext cx="3842205" cy="2013678"/>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Current State of Affairs</a:t>
            </a:r>
            <a:endParaRPr lang="en-US" sz="1600"/>
          </a:p>
        </p:txBody>
      </p:sp>
      <p:sp>
        <p:nvSpPr>
          <p:cNvPr id="3" name="Text 0"/>
          <p:cNvSpPr>
            <a:spLocks noGrp="1"/>
          </p:cNvSpPr>
          <p:nvPr>
            <p:ph type="body" idx="100" hasCustomPrompt="1"/>
          </p:nvPr>
        </p:nvSpPr>
        <p:spPr>
          <a:xfrm>
            <a:off x="0" y="274320"/>
            <a:ext cx="9144000" cy="59436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Reasons for Network Security</a:t>
            </a:r>
            <a:endParaRPr lang="en-US" sz="2200"/>
          </a:p>
        </p:txBody>
      </p:sp>
      <p:sp>
        <p:nvSpPr>
          <p:cNvPr id="5" name="Text 2"/>
          <p:cNvSpPr/>
          <p:nvPr/>
        </p:nvSpPr>
        <p:spPr>
          <a:xfrm>
            <a:off x="293914" y="1090747"/>
            <a:ext cx="8438606" cy="3200402"/>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sz="1400">
                <a:solidFill>
                  <a:srgbClr val="000000"/>
                </a:solidFill>
                <a:latin typeface="Arial" pitchFamily="34" charset="0"/>
                <a:cs typeface="Arial" pitchFamily="34" charset="-120"/>
              </a:rPr>
              <a:t>Network security relates directly to the business continuity of an organization.</a:t>
            </a:r>
          </a:p>
          <a:p>
            <a:pPr marL="285750" indent="-285750">
              <a:lnSpc>
                <a:spcPts val="2000"/>
              </a:lnSpc>
              <a:buFont typeface="Arial" panose="020B0604020202020204" pitchFamily="34" charset="0"/>
              <a:buChar char="•"/>
            </a:pPr>
            <a:r>
              <a:rPr lang="en-US" sz="1400">
                <a:solidFill>
                  <a:srgbClr val="000000"/>
                </a:solidFill>
                <a:latin typeface="Arial" pitchFamily="34" charset="0"/>
                <a:cs typeface="Arial" pitchFamily="34" charset="-120"/>
              </a:rPr>
              <a:t>Network security breaches can disrupt e-commerce, cause the loss of business data, threaten people’s privacy, and compromise the integrity of information.</a:t>
            </a:r>
          </a:p>
          <a:p>
            <a:pPr marL="285750" indent="-285750">
              <a:lnSpc>
                <a:spcPts val="2000"/>
              </a:lnSpc>
              <a:buFont typeface="Arial" panose="020B0604020202020204" pitchFamily="34" charset="0"/>
              <a:buChar char="•"/>
            </a:pPr>
            <a:r>
              <a:rPr lang="en-US" sz="1400">
                <a:solidFill>
                  <a:srgbClr val="000000"/>
                </a:solidFill>
                <a:latin typeface="Arial" pitchFamily="34" charset="0"/>
                <a:cs typeface="Arial" pitchFamily="34" charset="-120"/>
              </a:rPr>
              <a:t>These breaches can result in lost revenue for corporations, theft of intellectual property, lawsuits, and even threaten public safety.</a:t>
            </a:r>
          </a:p>
          <a:p>
            <a:pPr marL="285750" indent="-285750">
              <a:lnSpc>
                <a:spcPts val="2000"/>
              </a:lnSpc>
              <a:buFont typeface="Arial" panose="020B0604020202020204" pitchFamily="34" charset="0"/>
              <a:buChar char="•"/>
            </a:pPr>
            <a:r>
              <a:rPr lang="en-US" sz="1400">
                <a:solidFill>
                  <a:srgbClr val="000000"/>
                </a:solidFill>
                <a:latin typeface="Arial" pitchFamily="34" charset="0"/>
                <a:cs typeface="Arial" pitchFamily="34" charset="-120"/>
              </a:rPr>
              <a:t>Maintaining a secure network ensures the safety of network users and protects commercial interests. </a:t>
            </a:r>
          </a:p>
          <a:p>
            <a:pPr marL="285750" indent="-285750">
              <a:lnSpc>
                <a:spcPts val="2000"/>
              </a:lnSpc>
              <a:buFont typeface="Arial" panose="020B0604020202020204" pitchFamily="34" charset="0"/>
              <a:buChar char="•"/>
            </a:pPr>
            <a:r>
              <a:rPr lang="en-US" sz="1400">
                <a:solidFill>
                  <a:srgbClr val="000000"/>
                </a:solidFill>
                <a:latin typeface="Arial" pitchFamily="34" charset="0"/>
                <a:cs typeface="Arial" pitchFamily="34" charset="-120"/>
              </a:rPr>
              <a:t>Keeping a network secure requires vigilance from an organization’s network security professionals.</a:t>
            </a:r>
          </a:p>
          <a:p>
            <a:pPr marL="285750" indent="-285750">
              <a:lnSpc>
                <a:spcPts val="2000"/>
              </a:lnSpc>
              <a:buFont typeface="Arial" panose="020B0604020202020204" pitchFamily="34" charset="0"/>
              <a:buChar char="•"/>
            </a:pPr>
            <a:r>
              <a:rPr lang="en-US" sz="1400">
                <a:solidFill>
                  <a:srgbClr val="000000"/>
                </a:solidFill>
                <a:latin typeface="Arial" pitchFamily="34" charset="0"/>
                <a:cs typeface="Arial" pitchFamily="34" charset="-120"/>
              </a:rPr>
              <a:t>Many tools help network administrators adapt, develop, and implement threat mitigation techniques. Two examples are:</a:t>
            </a:r>
          </a:p>
          <a:p>
            <a:pPr marL="742950" lvl="1" indent="-285750">
              <a:lnSpc>
                <a:spcPts val="2000"/>
              </a:lnSpc>
              <a:buFont typeface="Arial" panose="020B0604020202020204" pitchFamily="34" charset="0"/>
              <a:buChar char="•"/>
            </a:pPr>
            <a:r>
              <a:rPr lang="en-US" sz="1400">
                <a:solidFill>
                  <a:srgbClr val="000000"/>
                </a:solidFill>
                <a:latin typeface="Arial" pitchFamily="34" charset="0"/>
                <a:cs typeface="Arial" pitchFamily="34" charset="-120"/>
              </a:rPr>
              <a:t>Cisco Talos Intelligence Group website</a:t>
            </a:r>
          </a:p>
          <a:p>
            <a:pPr marL="742950" lvl="1" indent="-285750">
              <a:lnSpc>
                <a:spcPts val="2000"/>
              </a:lnSpc>
              <a:buFont typeface="Arial" panose="020B0604020202020204" pitchFamily="34" charset="0"/>
              <a:buChar char="•"/>
            </a:pPr>
            <a:r>
              <a:rPr lang="en-US" sz="1400">
                <a:solidFill>
                  <a:srgbClr val="000000"/>
                </a:solidFill>
                <a:latin typeface="Arial" pitchFamily="34" charset="0"/>
                <a:cs typeface="Arial" pitchFamily="34" charset="-120"/>
              </a:rPr>
              <a:t>Cisco Product Security Incident Response Team (PSIRT)</a:t>
            </a: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Current State of Affairs</a:t>
            </a:r>
            <a:endParaRPr lang="en-US" sz="1600"/>
          </a:p>
        </p:txBody>
      </p:sp>
      <p:sp>
        <p:nvSpPr>
          <p:cNvPr id="3" name="Text 0"/>
          <p:cNvSpPr>
            <a:spLocks noGrp="1"/>
          </p:cNvSpPr>
          <p:nvPr>
            <p:ph type="body" idx="100" hasCustomPrompt="1"/>
          </p:nvPr>
        </p:nvSpPr>
        <p:spPr>
          <a:xfrm>
            <a:off x="0" y="274320"/>
            <a:ext cx="9144000" cy="625212"/>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Vectors of Network Attacks</a:t>
            </a:r>
            <a:endParaRPr lang="en-US" sz="2200" dirty="0"/>
          </a:p>
        </p:txBody>
      </p:sp>
      <p:sp>
        <p:nvSpPr>
          <p:cNvPr id="5" name="Text 2"/>
          <p:cNvSpPr/>
          <p:nvPr/>
        </p:nvSpPr>
        <p:spPr>
          <a:xfrm>
            <a:off x="97971" y="1142999"/>
            <a:ext cx="8229600" cy="3324498"/>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An attack vector is a path by which a threat actor can access a server, host, or network.</a:t>
            </a:r>
          </a:p>
          <a:p>
            <a:pPr marL="285750" indent="-285750">
              <a:lnSpc>
                <a:spcPts val="2000"/>
              </a:lnSpc>
              <a:buFont typeface="Arial" panose="020B0604020202020204" pitchFamily="34" charset="0"/>
              <a:buChar char="•"/>
            </a:pPr>
            <a:endParaRPr lang="en-US" sz="1400" dirty="0">
              <a:solidFill>
                <a:srgbClr val="000000"/>
              </a:solidFill>
              <a:latin typeface="Arial" pitchFamily="34" charset="0"/>
              <a:ea typeface="Arial" pitchFamily="34" charset="-122"/>
              <a:cs typeface="Arial" pitchFamily="34" charset="-120"/>
            </a:endParaRP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Attack vectors originate from inside or outside the corporate network.</a:t>
            </a:r>
          </a:p>
          <a:p>
            <a:pPr marL="742950" lvl="1" indent="-285750">
              <a:lnSpc>
                <a:spcPts val="2000"/>
              </a:lnSpc>
              <a:buFont typeface="Arial" panose="020B0604020202020204" pitchFamily="34" charset="0"/>
              <a:buChar char="•"/>
            </a:pPr>
            <a:r>
              <a:rPr lang="en-US" sz="1400" dirty="0">
                <a:solidFill>
                  <a:srgbClr val="000000"/>
                </a:solidFill>
                <a:latin typeface="Arial" pitchFamily="34" charset="0"/>
                <a:cs typeface="Arial" pitchFamily="34" charset="-120"/>
              </a:rPr>
              <a:t>An internal user, such as an employee, can accidentally or intentionally:</a:t>
            </a:r>
          </a:p>
          <a:p>
            <a:pPr marL="1200150" lvl="2" indent="-285750">
              <a:lnSpc>
                <a:spcPts val="2000"/>
              </a:lnSpc>
              <a:buFont typeface="Arial" panose="020B0604020202020204" pitchFamily="34" charset="0"/>
              <a:buChar char="•"/>
            </a:pPr>
            <a:r>
              <a:rPr lang="en-US" sz="1400" dirty="0">
                <a:solidFill>
                  <a:srgbClr val="000000"/>
                </a:solidFill>
                <a:latin typeface="Arial" pitchFamily="34" charset="0"/>
                <a:cs typeface="Arial" pitchFamily="34" charset="-120"/>
              </a:rPr>
              <a:t>Steal and copy confidential data to removable media, email, messaging software, and other media.</a:t>
            </a:r>
          </a:p>
          <a:p>
            <a:pPr marL="1200150" lvl="2" indent="-285750">
              <a:lnSpc>
                <a:spcPts val="2000"/>
              </a:lnSpc>
              <a:buFont typeface="Arial" panose="020B0604020202020204" pitchFamily="34" charset="0"/>
              <a:buChar char="•"/>
            </a:pPr>
            <a:r>
              <a:rPr lang="en-US" sz="1400" dirty="0">
                <a:solidFill>
                  <a:srgbClr val="000000"/>
                </a:solidFill>
                <a:latin typeface="Arial" pitchFamily="34" charset="0"/>
                <a:cs typeface="Arial" pitchFamily="34" charset="-120"/>
              </a:rPr>
              <a:t>Compromise internal servers or network infrastructure devices.</a:t>
            </a:r>
          </a:p>
          <a:p>
            <a:pPr marL="1200150" lvl="2" indent="-285750">
              <a:lnSpc>
                <a:spcPts val="2000"/>
              </a:lnSpc>
              <a:buFont typeface="Arial" panose="020B0604020202020204" pitchFamily="34" charset="0"/>
              <a:buChar char="•"/>
            </a:pPr>
            <a:r>
              <a:rPr lang="en-US" sz="1400" dirty="0">
                <a:solidFill>
                  <a:srgbClr val="000000"/>
                </a:solidFill>
                <a:latin typeface="Arial" pitchFamily="34" charset="0"/>
                <a:cs typeface="Arial" pitchFamily="34" charset="-120"/>
              </a:rPr>
              <a:t>Disconnect a critical network connection and cause a network outage.</a:t>
            </a:r>
          </a:p>
          <a:p>
            <a:pPr marL="1200150" lvl="2" indent="-285750">
              <a:lnSpc>
                <a:spcPts val="2000"/>
              </a:lnSpc>
              <a:buFont typeface="Arial" panose="020B0604020202020204" pitchFamily="34" charset="0"/>
              <a:buChar char="•"/>
            </a:pPr>
            <a:r>
              <a:rPr lang="en-US" sz="1400" dirty="0">
                <a:solidFill>
                  <a:srgbClr val="000000"/>
                </a:solidFill>
                <a:latin typeface="Arial" pitchFamily="34" charset="0"/>
                <a:cs typeface="Arial" pitchFamily="34" charset="-120"/>
              </a:rPr>
              <a:t>Connect an infected USB drive to a corporate computer system.</a:t>
            </a:r>
          </a:p>
          <a:p>
            <a:pPr marL="742950" lvl="1" indent="-285750">
              <a:lnSpc>
                <a:spcPts val="2000"/>
              </a:lnSpc>
              <a:buFont typeface="Arial" panose="020B0604020202020204" pitchFamily="34" charset="0"/>
              <a:buChar char="•"/>
            </a:pPr>
            <a:r>
              <a:rPr lang="en-US" sz="1400" dirty="0">
                <a:solidFill>
                  <a:srgbClr val="000000"/>
                </a:solidFill>
                <a:latin typeface="Arial" pitchFamily="34" charset="0"/>
                <a:cs typeface="Arial" pitchFamily="34" charset="-120"/>
              </a:rPr>
              <a:t>Internal threats have the potential to cause more significant damage than external threats.</a:t>
            </a:r>
          </a:p>
          <a:p>
            <a:pPr marL="742950" lvl="1" indent="-285750">
              <a:lnSpc>
                <a:spcPts val="2000"/>
              </a:lnSpc>
              <a:buFont typeface="Arial" panose="020B0604020202020204" pitchFamily="34" charset="0"/>
              <a:buChar char="•"/>
            </a:pPr>
            <a:endParaRPr lang="en-US" sz="1400" dirty="0">
              <a:solidFill>
                <a:srgbClr val="000000"/>
              </a:solidFill>
              <a:latin typeface="Arial" pitchFamily="34" charset="0"/>
              <a:cs typeface="Arial" pitchFamily="34" charset="-120"/>
            </a:endParaRPr>
          </a:p>
          <a:p>
            <a:pPr marL="285750" indent="-285750">
              <a:lnSpc>
                <a:spcPts val="2000"/>
              </a:lnSpc>
              <a:buFont typeface="Arial" panose="020B0604020202020204" pitchFamily="34" charset="0"/>
              <a:buChar char="•"/>
            </a:pPr>
            <a:r>
              <a:rPr lang="en-US" sz="1400" dirty="0">
                <a:solidFill>
                  <a:srgbClr val="000000"/>
                </a:solidFill>
                <a:latin typeface="Arial" pitchFamily="34" charset="0"/>
                <a:cs typeface="Arial" pitchFamily="34" charset="-120"/>
              </a:rPr>
              <a:t>Network security professionals must implement tools and apply techniques to mitigate external and internal threats.</a:t>
            </a:r>
          </a:p>
          <a:p>
            <a:pPr marL="742950" lvl="1" indent="-285750">
              <a:lnSpc>
                <a:spcPts val="2000"/>
              </a:lnSpc>
              <a:buFont typeface="Arial" panose="020B0604020202020204" pitchFamily="34" charset="0"/>
              <a:buChar char="•"/>
            </a:pPr>
            <a:endParaRPr lang="en-US" sz="1400" dirty="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Current State of Affairs</a:t>
            </a:r>
            <a:endParaRPr lang="en-US" sz="1600"/>
          </a:p>
        </p:txBody>
      </p:sp>
      <p:sp>
        <p:nvSpPr>
          <p:cNvPr id="3" name="Text 0"/>
          <p:cNvSpPr>
            <a:spLocks noGrp="1"/>
          </p:cNvSpPr>
          <p:nvPr>
            <p:ph type="body" idx="100" hasCustomPrompt="1"/>
          </p:nvPr>
        </p:nvSpPr>
        <p:spPr>
          <a:xfrm>
            <a:off x="0" y="274320"/>
            <a:ext cx="9144000" cy="483326"/>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Data Loss</a:t>
            </a:r>
            <a:endParaRPr lang="en-US" sz="2200"/>
          </a:p>
        </p:txBody>
      </p:sp>
      <p:graphicFrame>
        <p:nvGraphicFramePr>
          <p:cNvPr id="14" name="Table 0"/>
          <p:cNvGraphicFramePr>
            <a:graphicFrameLocks noGrp="1"/>
          </p:cNvGraphicFramePr>
          <p:nvPr>
            <p:extLst>
              <p:ext uri="{D42A27DB-BD31-4B8C-83A1-F6EECF244321}">
                <p14:modId xmlns:p14="http://schemas.microsoft.com/office/powerpoint/2010/main" val="1436000080"/>
              </p:ext>
            </p:extLst>
          </p:nvPr>
        </p:nvGraphicFramePr>
        <p:xfrm>
          <a:off x="303826" y="857412"/>
          <a:ext cx="8611574" cy="3489960"/>
        </p:xfrm>
        <a:graphic>
          <a:graphicData uri="http://schemas.openxmlformats.org/drawingml/2006/table">
            <a:tbl>
              <a:tblPr/>
              <a:tblGrid>
                <a:gridCol w="3093072">
                  <a:extLst>
                    <a:ext uri="{9D8B030D-6E8A-4147-A177-3AD203B41FA5}">
                      <a16:colId xmlns:a16="http://schemas.microsoft.com/office/drawing/2014/main" val="20000"/>
                    </a:ext>
                  </a:extLst>
                </a:gridCol>
                <a:gridCol w="5518502">
                  <a:extLst>
                    <a:ext uri="{9D8B030D-6E8A-4147-A177-3AD203B41FA5}">
                      <a16:colId xmlns:a16="http://schemas.microsoft.com/office/drawing/2014/main" val="20001"/>
                    </a:ext>
                  </a:extLst>
                </a:gridCol>
              </a:tblGrid>
              <a:tr h="0">
                <a:tc>
                  <a:txBody>
                    <a:bodyPr/>
                    <a:lstStyle/>
                    <a:p>
                      <a:r>
                        <a:rPr lang="en-US" sz="1100" dirty="0">
                          <a:solidFill>
                            <a:srgbClr val="FFFFFF"/>
                          </a:solidFill>
                          <a:latin typeface="Arial" panose="020B0604020202020204" pitchFamily="34" charset="0"/>
                          <a:cs typeface="Arial" panose="020B0604020202020204" pitchFamily="34" charset="0"/>
                        </a:rPr>
                        <a:t>Term</a:t>
                      </a:r>
                      <a:endParaRPr lang="en-US" sz="1100" dirty="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100">
                          <a:solidFill>
                            <a:srgbClr val="FFFFFF"/>
                          </a:solidFill>
                          <a:latin typeface="Arial" panose="020B0604020202020204" pitchFamily="34" charset="0"/>
                          <a:cs typeface="Arial" panose="020B0604020202020204" pitchFamily="34" charset="0"/>
                        </a:rPr>
                        <a:t>Definition</a:t>
                      </a:r>
                      <a:endParaRPr lang="en-US" sz="110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100" dirty="0">
                          <a:solidFill>
                            <a:srgbClr val="58585B"/>
                          </a:solidFill>
                          <a:latin typeface="Arial" panose="020B0604020202020204" pitchFamily="34" charset="0"/>
                          <a:cs typeface="Arial" panose="020B0604020202020204" pitchFamily="34" charset="0"/>
                        </a:rPr>
                        <a:t>Email/Social Networking</a:t>
                      </a:r>
                      <a:endParaRPr lang="en-US" sz="1100" dirty="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00">
                          <a:solidFill>
                            <a:srgbClr val="58585B"/>
                          </a:solidFill>
                          <a:latin typeface="Arial" panose="020B0604020202020204" pitchFamily="34" charset="0"/>
                          <a:cs typeface="Arial" panose="020B0604020202020204" pitchFamily="34" charset="0"/>
                        </a:rPr>
                        <a:t>The most common vector for data loss includes instant messaging software and social media sites. For instance, intercepted email or IM messages could be captured and reveal confidential information.</a:t>
                      </a:r>
                      <a:endParaRPr lang="en-US" sz="110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100">
                          <a:solidFill>
                            <a:srgbClr val="58585B"/>
                          </a:solidFill>
                          <a:latin typeface="Arial" panose="020B0604020202020204" pitchFamily="34" charset="0"/>
                          <a:cs typeface="Arial" panose="020B0604020202020204" pitchFamily="34" charset="0"/>
                        </a:rPr>
                        <a:t>Unencrypted Devices</a:t>
                      </a:r>
                      <a:endParaRPr lang="en-US" sz="110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00" dirty="0">
                          <a:solidFill>
                            <a:srgbClr val="58585B"/>
                          </a:solidFill>
                          <a:latin typeface="Arial" panose="020B0604020202020204" pitchFamily="34" charset="0"/>
                          <a:cs typeface="Arial" panose="020B0604020202020204" pitchFamily="34" charset="0"/>
                        </a:rPr>
                        <a:t>A stolen corporate laptop typically contains confidential organizational data. The thief can retrieve valuable personal data if the data is not stored using an encryption algorithm.</a:t>
                      </a:r>
                      <a:endParaRPr lang="en-US" sz="1100" dirty="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r>
                        <a:rPr lang="en-US" sz="1100">
                          <a:solidFill>
                            <a:srgbClr val="58585B"/>
                          </a:solidFill>
                          <a:latin typeface="Arial" panose="020B0604020202020204" pitchFamily="34" charset="0"/>
                          <a:cs typeface="Arial" panose="020B0604020202020204" pitchFamily="34" charset="0"/>
                        </a:rPr>
                        <a:t>Cloud Storage Devices</a:t>
                      </a:r>
                      <a:endParaRPr lang="en-US" sz="110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00">
                          <a:solidFill>
                            <a:srgbClr val="58585B"/>
                          </a:solidFill>
                          <a:latin typeface="Arial" panose="020B0604020202020204" pitchFamily="34" charset="0"/>
                          <a:cs typeface="Arial" panose="020B0604020202020204" pitchFamily="34" charset="0"/>
                        </a:rPr>
                        <a:t>Saving data to the cloud has many potential benefits. However, sensitive data can be lost if access to the cloud is compromised due to weak security settings.</a:t>
                      </a:r>
                      <a:endParaRPr lang="en-US" sz="110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100">
                          <a:solidFill>
                            <a:srgbClr val="58585B"/>
                          </a:solidFill>
                          <a:latin typeface="Arial" panose="020B0604020202020204" pitchFamily="34" charset="0"/>
                          <a:cs typeface="Arial" panose="020B0604020202020204" pitchFamily="34" charset="0"/>
                        </a:rPr>
                        <a:t>Removable Media</a:t>
                      </a:r>
                      <a:endParaRPr lang="en-US" sz="110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00">
                          <a:solidFill>
                            <a:srgbClr val="58585B"/>
                          </a:solidFill>
                          <a:latin typeface="Arial" panose="020B0604020202020204" pitchFamily="34" charset="0"/>
                          <a:cs typeface="Arial" panose="020B0604020202020204" pitchFamily="34" charset="0"/>
                        </a:rPr>
                        <a:t>One risk is that an employee could perform an unauthorized transfer of data to a USB drive. Another chance is that a USB drive containing valuable corporate data could be lost.</a:t>
                      </a:r>
                      <a:endParaRPr lang="en-US" sz="110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4"/>
                  </a:ext>
                </a:extLst>
              </a:tr>
              <a:tr h="0">
                <a:tc>
                  <a:txBody>
                    <a:bodyPr/>
                    <a:lstStyle/>
                    <a:p>
                      <a:r>
                        <a:rPr lang="en-US" sz="1100">
                          <a:solidFill>
                            <a:srgbClr val="58585B"/>
                          </a:solidFill>
                          <a:latin typeface="Arial" panose="020B0604020202020204" pitchFamily="34" charset="0"/>
                          <a:cs typeface="Arial" panose="020B0604020202020204" pitchFamily="34" charset="0"/>
                        </a:rPr>
                        <a:t>Hard Copy</a:t>
                      </a:r>
                      <a:endParaRPr lang="en-US" sz="110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00">
                          <a:solidFill>
                            <a:srgbClr val="58585B"/>
                          </a:solidFill>
                          <a:latin typeface="Arial" panose="020B0604020202020204" pitchFamily="34" charset="0"/>
                          <a:cs typeface="Arial" panose="020B0604020202020204" pitchFamily="34" charset="0"/>
                        </a:rPr>
                        <a:t>Corporate data should be disposed of thoroughly. For example, confidential data should be shredded when no longer required. Otherwise, a thief could retrieve discarded reports and gain valuable information.</a:t>
                      </a:r>
                      <a:endParaRPr lang="en-US" sz="110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100">
                          <a:solidFill>
                            <a:srgbClr val="58585B"/>
                          </a:solidFill>
                          <a:latin typeface="Arial" panose="020B0604020202020204" pitchFamily="34" charset="0"/>
                          <a:cs typeface="Arial" panose="020B0604020202020204" pitchFamily="34" charset="0"/>
                        </a:rPr>
                        <a:t>Improper Access Control</a:t>
                      </a:r>
                      <a:endParaRPr lang="en-US" sz="110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00" dirty="0">
                          <a:solidFill>
                            <a:srgbClr val="58585B"/>
                          </a:solidFill>
                          <a:latin typeface="Arial" panose="020B0604020202020204" pitchFamily="34" charset="0"/>
                          <a:cs typeface="Arial" panose="020B0604020202020204" pitchFamily="34" charset="0"/>
                        </a:rPr>
                        <a:t>Passwords are the first line of defense. Stolen passwords or weak passwords which have been compromised can provide an attacker easy access to corporate data.</a:t>
                      </a:r>
                      <a:endParaRPr lang="en-US" sz="1100" dirty="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Current State of Affairs</a:t>
            </a:r>
            <a:endParaRPr lang="en-US" sz="1600"/>
          </a:p>
        </p:txBody>
      </p:sp>
      <p:sp>
        <p:nvSpPr>
          <p:cNvPr id="3" name="Text 0"/>
          <p:cNvSpPr>
            <a:spLocks noGrp="1"/>
          </p:cNvSpPr>
          <p:nvPr>
            <p:ph type="body" idx="100" hasCustomPrompt="1"/>
          </p:nvPr>
        </p:nvSpPr>
        <p:spPr>
          <a:xfrm>
            <a:off x="0" y="274320"/>
            <a:ext cx="9144000" cy="610343"/>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Packet Tracer - Investigate a Threat Landscape</a:t>
            </a:r>
            <a:endParaRPr lang="en-US" sz="2200"/>
          </a:p>
        </p:txBody>
      </p:sp>
      <p:sp>
        <p:nvSpPr>
          <p:cNvPr id="5" name="Text 2"/>
          <p:cNvSpPr/>
          <p:nvPr/>
        </p:nvSpPr>
        <p:spPr>
          <a:xfrm>
            <a:off x="502920" y="1214846"/>
            <a:ext cx="8229600" cy="2571750"/>
          </a:xfrm>
          <a:prstGeom prst="rect">
            <a:avLst/>
          </a:prstGeom>
          <a:noFill/>
          <a:ln/>
        </p:spPr>
        <p:txBody>
          <a:bodyPr wrap="square" rtlCol="0" anchor="t"/>
          <a:lstStyle/>
          <a:p>
            <a:pPr>
              <a:lnSpc>
                <a:spcPts val="2000"/>
              </a:lnSpc>
            </a:pPr>
            <a:r>
              <a:rPr lang="en-US" sz="1400">
                <a:solidFill>
                  <a:srgbClr val="000000"/>
                </a:solidFill>
                <a:latin typeface="Arial" pitchFamily="34" charset="0"/>
                <a:ea typeface="Arial" pitchFamily="34" charset="-122"/>
                <a:cs typeface="Arial" pitchFamily="34" charset="-120"/>
              </a:rPr>
              <a:t>In this Packet Tracer activity, you will meet the following objectives:</a:t>
            </a:r>
          </a:p>
          <a:p>
            <a:pPr>
              <a:lnSpc>
                <a:spcPts val="2000"/>
              </a:lnSpc>
            </a:pPr>
            <a:endParaRPr lang="en-US" sz="1400">
              <a:solidFill>
                <a:srgbClr val="000000"/>
              </a:solidFill>
              <a:latin typeface="Arial" pitchFamily="34" charset="0"/>
              <a:ea typeface="Arial" pitchFamily="34" charset="-122"/>
              <a:cs typeface="Arial" pitchFamily="34" charset="-120"/>
            </a:endParaRPr>
          </a:p>
          <a:p>
            <a:pPr marL="742950" lvl="1" indent="-285750">
              <a:lnSpc>
                <a:spcPts val="2000"/>
              </a:lnSpc>
              <a:buFont typeface="Arial" panose="020B0604020202020204" pitchFamily="34" charset="0"/>
              <a:buChar char="•"/>
            </a:pPr>
            <a:r>
              <a:rPr lang="en-US" sz="1400">
                <a:solidFill>
                  <a:srgbClr val="000000"/>
                </a:solidFill>
                <a:latin typeface="Arial" pitchFamily="34" charset="0"/>
                <a:ea typeface="Arial" pitchFamily="34" charset="-122"/>
                <a:cs typeface="Arial" pitchFamily="34" charset="-120"/>
              </a:rPr>
              <a:t>Part 1: Investigate the Bottom Toolbar</a:t>
            </a:r>
          </a:p>
          <a:p>
            <a:pPr marL="742950" lvl="1" indent="-285750">
              <a:lnSpc>
                <a:spcPts val="2000"/>
              </a:lnSpc>
              <a:buFont typeface="Arial" panose="020B0604020202020204" pitchFamily="34" charset="0"/>
              <a:buChar char="•"/>
            </a:pPr>
            <a:r>
              <a:rPr lang="en-US" sz="1400">
                <a:solidFill>
                  <a:srgbClr val="000000"/>
                </a:solidFill>
                <a:latin typeface="Arial" pitchFamily="34" charset="0"/>
                <a:ea typeface="Arial" pitchFamily="34" charset="-122"/>
                <a:cs typeface="Arial" pitchFamily="34" charset="-120"/>
              </a:rPr>
              <a:t>Part 2: Investigate Devices in a Wiring Closet</a:t>
            </a:r>
          </a:p>
          <a:p>
            <a:pPr marL="742950" lvl="1" indent="-285750">
              <a:lnSpc>
                <a:spcPts val="2000"/>
              </a:lnSpc>
              <a:buFont typeface="Arial" panose="020B0604020202020204" pitchFamily="34" charset="0"/>
              <a:buChar char="•"/>
            </a:pPr>
            <a:r>
              <a:rPr lang="en-US" sz="1400">
                <a:solidFill>
                  <a:srgbClr val="000000"/>
                </a:solidFill>
                <a:latin typeface="Arial" pitchFamily="34" charset="0"/>
                <a:ea typeface="Arial" pitchFamily="34" charset="-122"/>
                <a:cs typeface="Arial" pitchFamily="34" charset="-120"/>
              </a:rPr>
              <a:t>Part 3: Connect End Devices to Networking Devices</a:t>
            </a:r>
          </a:p>
          <a:p>
            <a:pPr marL="742950" lvl="1" indent="-285750">
              <a:lnSpc>
                <a:spcPts val="2000"/>
              </a:lnSpc>
              <a:buFont typeface="Arial" panose="020B0604020202020204" pitchFamily="34" charset="0"/>
              <a:buChar char="•"/>
            </a:pPr>
            <a:r>
              <a:rPr lang="en-US" sz="1400">
                <a:solidFill>
                  <a:srgbClr val="000000"/>
                </a:solidFill>
                <a:latin typeface="Arial" pitchFamily="34" charset="0"/>
                <a:ea typeface="Arial" pitchFamily="34" charset="-122"/>
                <a:cs typeface="Arial" pitchFamily="34" charset="-120"/>
              </a:rPr>
              <a:t>Part 4: Install a Backup Router</a:t>
            </a:r>
          </a:p>
          <a:p>
            <a:pPr marL="742950" lvl="1" indent="-285750">
              <a:lnSpc>
                <a:spcPts val="2000"/>
              </a:lnSpc>
              <a:buFont typeface="Arial" panose="020B0604020202020204" pitchFamily="34" charset="0"/>
              <a:buChar char="•"/>
            </a:pPr>
            <a:r>
              <a:rPr lang="en-US" sz="1400">
                <a:solidFill>
                  <a:srgbClr val="000000"/>
                </a:solidFill>
                <a:latin typeface="Arial" pitchFamily="34" charset="0"/>
                <a:ea typeface="Arial" pitchFamily="34" charset="-122"/>
                <a:cs typeface="Arial" pitchFamily="34" charset="-120"/>
              </a:rPr>
              <a:t>Part 5: Configure a Hostname</a:t>
            </a:r>
          </a:p>
          <a:p>
            <a:pPr marL="742950" lvl="1" indent="-285750">
              <a:lnSpc>
                <a:spcPts val="2000"/>
              </a:lnSpc>
              <a:buFont typeface="Arial" panose="020B0604020202020204" pitchFamily="34" charset="0"/>
              <a:buChar char="•"/>
            </a:pPr>
            <a:r>
              <a:rPr lang="en-US" sz="1400">
                <a:solidFill>
                  <a:srgbClr val="000000"/>
                </a:solidFill>
                <a:latin typeface="Arial" pitchFamily="34" charset="0"/>
                <a:ea typeface="Arial" pitchFamily="34" charset="-122"/>
                <a:cs typeface="Arial" pitchFamily="34" charset="-120"/>
              </a:rPr>
              <a:t>Part 6: Explore the Rest of the Network</a:t>
            </a:r>
            <a:endParaRPr lang="en-US" sz="140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400"/>
            <a:ext cx="8229600" cy="1681976"/>
          </a:xfrm>
          <a:prstGeom prst="rect">
            <a:avLst/>
          </a:prstGeom>
          <a:noFill/>
          <a:ln/>
        </p:spPr>
        <p:txBody>
          <a:bodyPr wrap="square" rtlCol="0"/>
          <a:lstStyle/>
          <a:p>
            <a:pPr marL="0" indent="0">
              <a:buNone/>
            </a:pPr>
            <a:r>
              <a:rPr lang="en-US" sz="4600" dirty="0">
                <a:solidFill>
                  <a:srgbClr val="B1E8FA"/>
                </a:solidFill>
                <a:latin typeface="Arial" pitchFamily="34" charset="0"/>
                <a:ea typeface="Arial" pitchFamily="34" charset="-122"/>
                <a:cs typeface="Arial" pitchFamily="34" charset="-120"/>
              </a:rPr>
              <a:t>2.2 Who is Attacking Our Network?</a:t>
            </a:r>
            <a:endParaRPr lang="en-US" sz="4600" dirty="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Who is Attacking Our Network?</a:t>
            </a:r>
            <a:endParaRPr lang="en-US" sz="1600"/>
          </a:p>
        </p:txBody>
      </p:sp>
      <p:sp>
        <p:nvSpPr>
          <p:cNvPr id="3" name="Text 0"/>
          <p:cNvSpPr>
            <a:spLocks noGrp="1"/>
          </p:cNvSpPr>
          <p:nvPr>
            <p:ph type="body" idx="100" hasCustomPrompt="1"/>
          </p:nvPr>
        </p:nvSpPr>
        <p:spPr>
          <a:xfrm>
            <a:off x="0" y="274320"/>
            <a:ext cx="9144000" cy="414316"/>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Threat, Vulnerability, and Risk</a:t>
            </a:r>
            <a:endParaRPr lang="en-US" sz="2200"/>
          </a:p>
        </p:txBody>
      </p:sp>
      <p:sp>
        <p:nvSpPr>
          <p:cNvPr id="4" name="TextBox 3">
            <a:extLst>
              <a:ext uri="{FF2B5EF4-FFF2-40B4-BE49-F238E27FC236}">
                <a16:creationId xmlns:a16="http://schemas.microsoft.com/office/drawing/2014/main" id="{13CC324C-0923-AD09-71BE-AC9BE484357C}"/>
              </a:ext>
            </a:extLst>
          </p:cNvPr>
          <p:cNvSpPr txBox="1"/>
          <p:nvPr/>
        </p:nvSpPr>
        <p:spPr>
          <a:xfrm>
            <a:off x="90054" y="803564"/>
            <a:ext cx="8419481" cy="523220"/>
          </a:xfrm>
          <a:prstGeom prst="rect">
            <a:avLst/>
          </a:prstGeom>
          <a:noFill/>
        </p:spPr>
        <p:txBody>
          <a:bodyPr wrap="square" rtlCol="0">
            <a:spAutoFit/>
          </a:bodyPr>
          <a:lstStyle/>
          <a:p>
            <a:r>
              <a:rPr lang="en-US" sz="1400">
                <a:effectLst/>
                <a:latin typeface="Arial" panose="020B0604020202020204" pitchFamily="34" charset="0"/>
                <a:cs typeface="Arial" panose="020B0604020202020204" pitchFamily="34" charset="0"/>
              </a:rPr>
              <a:t>We are under attack and attackers want access to our assets (data, intellectual property, servers, computers, smart phones, tablets, and more).</a:t>
            </a:r>
            <a:endParaRPr lang="en-US" sz="1400">
              <a:latin typeface="Arial" panose="020B0604020202020204" pitchFamily="34" charset="0"/>
              <a:cs typeface="Arial" panose="020B0604020202020204" pitchFamily="34" charset="0"/>
            </a:endParaRPr>
          </a:p>
        </p:txBody>
      </p:sp>
      <p:graphicFrame>
        <p:nvGraphicFramePr>
          <p:cNvPr id="35" name="Table 1"/>
          <p:cNvGraphicFramePr>
            <a:graphicFrameLocks noGrp="1"/>
          </p:cNvGraphicFramePr>
          <p:nvPr>
            <p:extLst>
              <p:ext uri="{D42A27DB-BD31-4B8C-83A1-F6EECF244321}">
                <p14:modId xmlns:p14="http://schemas.microsoft.com/office/powerpoint/2010/main" val="2783028449"/>
              </p:ext>
            </p:extLst>
          </p:nvPr>
        </p:nvGraphicFramePr>
        <p:xfrm>
          <a:off x="364301" y="1441712"/>
          <a:ext cx="8262998" cy="2895600"/>
        </p:xfrm>
        <a:graphic>
          <a:graphicData uri="http://schemas.openxmlformats.org/drawingml/2006/table">
            <a:tbl>
              <a:tblPr/>
              <a:tblGrid>
                <a:gridCol w="2670519">
                  <a:extLst>
                    <a:ext uri="{9D8B030D-6E8A-4147-A177-3AD203B41FA5}">
                      <a16:colId xmlns:a16="http://schemas.microsoft.com/office/drawing/2014/main" val="20000"/>
                    </a:ext>
                  </a:extLst>
                </a:gridCol>
                <a:gridCol w="5592479">
                  <a:extLst>
                    <a:ext uri="{9D8B030D-6E8A-4147-A177-3AD203B41FA5}">
                      <a16:colId xmlns:a16="http://schemas.microsoft.com/office/drawing/2014/main" val="20001"/>
                    </a:ext>
                  </a:extLst>
                </a:gridCol>
              </a:tblGrid>
              <a:tr h="0">
                <a:tc>
                  <a:txBody>
                    <a:bodyPr/>
                    <a:lstStyle/>
                    <a:p>
                      <a:r>
                        <a:rPr lang="en-US" sz="1100">
                          <a:solidFill>
                            <a:srgbClr val="FFFFFF"/>
                          </a:solidFill>
                          <a:latin typeface="Arial" panose="020B0604020202020204" pitchFamily="34" charset="0"/>
                          <a:cs typeface="Arial" panose="020B0604020202020204" pitchFamily="34" charset="0"/>
                        </a:rPr>
                        <a:t>Term</a:t>
                      </a:r>
                      <a:endParaRPr lang="en-US" sz="110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100">
                          <a:solidFill>
                            <a:srgbClr val="FFFFFF"/>
                          </a:solidFill>
                          <a:latin typeface="Arial" panose="020B0604020202020204" pitchFamily="34" charset="0"/>
                          <a:cs typeface="Arial" panose="020B0604020202020204" pitchFamily="34" charset="0"/>
                        </a:rPr>
                        <a:t>Explanation</a:t>
                      </a:r>
                      <a:endParaRPr lang="en-US" sz="110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100">
                          <a:solidFill>
                            <a:srgbClr val="58585B"/>
                          </a:solidFill>
                          <a:latin typeface="Arial" panose="020B0604020202020204" pitchFamily="34" charset="0"/>
                          <a:cs typeface="Arial" panose="020B0604020202020204" pitchFamily="34" charset="0"/>
                        </a:rPr>
                        <a:t>Threat</a:t>
                      </a:r>
                      <a:endParaRPr lang="en-US" sz="110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00">
                          <a:solidFill>
                            <a:srgbClr val="58585B"/>
                          </a:solidFill>
                          <a:latin typeface="Arial" panose="020B0604020202020204" pitchFamily="34" charset="0"/>
                          <a:cs typeface="Arial" panose="020B0604020202020204" pitchFamily="34" charset="0"/>
                        </a:rPr>
                        <a:t>A potential danger to an asset such as data or the network itself.</a:t>
                      </a:r>
                      <a:endParaRPr lang="en-US" sz="110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100">
                          <a:solidFill>
                            <a:srgbClr val="58585B"/>
                          </a:solidFill>
                          <a:latin typeface="Arial" panose="020B0604020202020204" pitchFamily="34" charset="0"/>
                          <a:cs typeface="Arial" panose="020B0604020202020204" pitchFamily="34" charset="0"/>
                        </a:rPr>
                        <a:t>Vulnerability</a:t>
                      </a:r>
                      <a:endParaRPr lang="en-US" sz="110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00" dirty="0">
                          <a:solidFill>
                            <a:srgbClr val="58585B"/>
                          </a:solidFill>
                          <a:latin typeface="Arial" panose="020B0604020202020204" pitchFamily="34" charset="0"/>
                          <a:cs typeface="Arial" panose="020B0604020202020204" pitchFamily="34" charset="0"/>
                        </a:rPr>
                        <a:t>A weakness in a system or its design that a threat could exploit.</a:t>
                      </a:r>
                      <a:endParaRPr lang="en-US" sz="1100" dirty="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r>
                        <a:rPr lang="en-US" sz="1100">
                          <a:solidFill>
                            <a:srgbClr val="58585B"/>
                          </a:solidFill>
                          <a:latin typeface="Arial" panose="020B0604020202020204" pitchFamily="34" charset="0"/>
                          <a:cs typeface="Arial" panose="020B0604020202020204" pitchFamily="34" charset="0"/>
                        </a:rPr>
                        <a:t>Attack surface</a:t>
                      </a:r>
                      <a:endParaRPr lang="en-US" sz="110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00">
                          <a:solidFill>
                            <a:srgbClr val="58585B"/>
                          </a:solidFill>
                          <a:latin typeface="Arial" panose="020B0604020202020204" pitchFamily="34" charset="0"/>
                          <a:cs typeface="Arial" panose="020B0604020202020204" pitchFamily="34" charset="0"/>
                        </a:rPr>
                        <a:t>An attack surface is the total sum of the vulnerabilities in a given system that is accessible to an attacker. The attack surface describes different points where an attacker could get into a plan and where they could get data out of the system.</a:t>
                      </a:r>
                      <a:endParaRPr lang="en-US" sz="110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100">
                          <a:solidFill>
                            <a:srgbClr val="58585B"/>
                          </a:solidFill>
                          <a:latin typeface="Arial" panose="020B0604020202020204" pitchFamily="34" charset="0"/>
                          <a:cs typeface="Arial" panose="020B0604020202020204" pitchFamily="34" charset="0"/>
                        </a:rPr>
                        <a:t>Exploit</a:t>
                      </a:r>
                      <a:endParaRPr lang="en-US" sz="110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00">
                          <a:solidFill>
                            <a:srgbClr val="58585B"/>
                          </a:solidFill>
                          <a:latin typeface="Arial" panose="020B0604020202020204" pitchFamily="34" charset="0"/>
                          <a:cs typeface="Arial" panose="020B0604020202020204" pitchFamily="34" charset="0"/>
                        </a:rPr>
                        <a:t>The mechanism that is used to leverage a vulnerability to compromise an asset. Exploits may be remote or local. A remote exploit works over the network without prior access to the target system. The attacker does not need an account in the end system to exploit the vulnerability. In a local exploit, the threat actor has some user or administrative access to the end system. A local exploit does not necessarily mean the attacker has physical access to the end system.</a:t>
                      </a:r>
                      <a:endParaRPr lang="en-US" sz="110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4"/>
                  </a:ext>
                </a:extLst>
              </a:tr>
              <a:tr h="0">
                <a:tc>
                  <a:txBody>
                    <a:bodyPr/>
                    <a:lstStyle/>
                    <a:p>
                      <a:r>
                        <a:rPr lang="en-US" sz="1100" kern="1200">
                          <a:solidFill>
                            <a:srgbClr val="58585B"/>
                          </a:solidFill>
                          <a:latin typeface="Arial" panose="020B0604020202020204" pitchFamily="34" charset="0"/>
                          <a:ea typeface="+mn-ea"/>
                          <a:cs typeface="Arial" panose="020B0604020202020204" pitchFamily="34" charset="0"/>
                        </a:rPr>
                        <a:t>Risk</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00" kern="1200" dirty="0">
                          <a:solidFill>
                            <a:srgbClr val="58585B"/>
                          </a:solidFill>
                          <a:latin typeface="Arial" panose="020B0604020202020204" pitchFamily="34" charset="0"/>
                          <a:ea typeface="+mn-ea"/>
                          <a:cs typeface="Arial" panose="020B0604020202020204" pitchFamily="34" charset="0"/>
                        </a:rPr>
                        <a:t>The likelihood that a particular threat will exploit a specific vulnerability of an asset and result in an undesirable consequence.</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934558571"/>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Who is Attacking Our Network?</a:t>
            </a:r>
            <a:endParaRPr lang="en-US" sz="1600"/>
          </a:p>
        </p:txBody>
      </p:sp>
      <p:sp>
        <p:nvSpPr>
          <p:cNvPr id="3" name="Text 0"/>
          <p:cNvSpPr>
            <a:spLocks noGrp="1"/>
          </p:cNvSpPr>
          <p:nvPr>
            <p:ph type="body" idx="100" hasCustomPrompt="1"/>
          </p:nvPr>
        </p:nvSpPr>
        <p:spPr>
          <a:xfrm>
            <a:off x="0" y="274320"/>
            <a:ext cx="9144000" cy="475924"/>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Threat, Vulnerability, and Risk (Cont.)</a:t>
            </a:r>
            <a:endParaRPr lang="en-US" sz="2200"/>
          </a:p>
        </p:txBody>
      </p:sp>
      <p:sp>
        <p:nvSpPr>
          <p:cNvPr id="4" name="TextBox 3">
            <a:extLst>
              <a:ext uri="{FF2B5EF4-FFF2-40B4-BE49-F238E27FC236}">
                <a16:creationId xmlns:a16="http://schemas.microsoft.com/office/drawing/2014/main" id="{8E5B0D0F-31ED-A15A-433F-163A92E8728E}"/>
              </a:ext>
            </a:extLst>
          </p:cNvPr>
          <p:cNvSpPr txBox="1"/>
          <p:nvPr/>
        </p:nvSpPr>
        <p:spPr>
          <a:xfrm>
            <a:off x="314325" y="954119"/>
            <a:ext cx="6015038"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There are four common ways to manage risk:</a:t>
            </a:r>
          </a:p>
        </p:txBody>
      </p:sp>
      <p:graphicFrame>
        <p:nvGraphicFramePr>
          <p:cNvPr id="35" name="Table 1"/>
          <p:cNvGraphicFramePr>
            <a:graphicFrameLocks noGrp="1"/>
          </p:cNvGraphicFramePr>
          <p:nvPr>
            <p:extLst>
              <p:ext uri="{D42A27DB-BD31-4B8C-83A1-F6EECF244321}">
                <p14:modId xmlns:p14="http://schemas.microsoft.com/office/powerpoint/2010/main" val="3053332101"/>
              </p:ext>
            </p:extLst>
          </p:nvPr>
        </p:nvGraphicFramePr>
        <p:xfrm>
          <a:off x="488298" y="1465771"/>
          <a:ext cx="8167404" cy="2629034"/>
        </p:xfrm>
        <a:graphic>
          <a:graphicData uri="http://schemas.openxmlformats.org/drawingml/2006/table">
            <a:tbl>
              <a:tblPr/>
              <a:tblGrid>
                <a:gridCol w="2639947">
                  <a:extLst>
                    <a:ext uri="{9D8B030D-6E8A-4147-A177-3AD203B41FA5}">
                      <a16:colId xmlns:a16="http://schemas.microsoft.com/office/drawing/2014/main" val="20000"/>
                    </a:ext>
                  </a:extLst>
                </a:gridCol>
                <a:gridCol w="5527457">
                  <a:extLst>
                    <a:ext uri="{9D8B030D-6E8A-4147-A177-3AD203B41FA5}">
                      <a16:colId xmlns:a16="http://schemas.microsoft.com/office/drawing/2014/main" val="20001"/>
                    </a:ext>
                  </a:extLst>
                </a:gridCol>
              </a:tblGrid>
              <a:tr h="275289">
                <a:tc>
                  <a:txBody>
                    <a:bodyPr/>
                    <a:lstStyle/>
                    <a:p>
                      <a:r>
                        <a:rPr lang="en-US" sz="1100">
                          <a:solidFill>
                            <a:srgbClr val="FFFFFF"/>
                          </a:solidFill>
                          <a:latin typeface="Arial" panose="020B0604020202020204" pitchFamily="34" charset="0"/>
                          <a:cs typeface="Arial" panose="020B0604020202020204" pitchFamily="34" charset="0"/>
                        </a:rPr>
                        <a:t>Risk Management Strategy</a:t>
                      </a:r>
                      <a:endParaRPr lang="en-US" sz="110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100">
                          <a:solidFill>
                            <a:srgbClr val="FFFFFF"/>
                          </a:solidFill>
                          <a:latin typeface="Arial" panose="020B0604020202020204" pitchFamily="34" charset="0"/>
                          <a:cs typeface="Arial" panose="020B0604020202020204" pitchFamily="34" charset="0"/>
                        </a:rPr>
                        <a:t>Explanation</a:t>
                      </a:r>
                      <a:endParaRPr lang="en-US" sz="110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458815">
                <a:tc>
                  <a:txBody>
                    <a:bodyPr/>
                    <a:lstStyle/>
                    <a:p>
                      <a:r>
                        <a:rPr lang="en-US" sz="1100">
                          <a:solidFill>
                            <a:srgbClr val="58585B"/>
                          </a:solidFill>
                          <a:latin typeface="Arial" panose="020B0604020202020204" pitchFamily="34" charset="0"/>
                          <a:cs typeface="Arial" panose="020B0604020202020204" pitchFamily="34" charset="0"/>
                        </a:rPr>
                        <a:t>Risk acceptance</a:t>
                      </a:r>
                      <a:endParaRPr lang="en-US" sz="110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00" dirty="0">
                          <a:solidFill>
                            <a:srgbClr val="58585B"/>
                          </a:solidFill>
                          <a:latin typeface="Arial" panose="020B0604020202020204" pitchFamily="34" charset="0"/>
                          <a:cs typeface="Arial" panose="020B0604020202020204" pitchFamily="34" charset="0"/>
                        </a:rPr>
                        <a:t>This is when the cost of risk management options outweighs the cost of the risk itself. The risk is accepted, and no action is taken.</a:t>
                      </a:r>
                      <a:endParaRPr lang="en-US" sz="1100" dirty="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642342">
                <a:tc>
                  <a:txBody>
                    <a:bodyPr/>
                    <a:lstStyle/>
                    <a:p>
                      <a:r>
                        <a:rPr lang="en-US" sz="1100">
                          <a:solidFill>
                            <a:srgbClr val="58585B"/>
                          </a:solidFill>
                          <a:latin typeface="Arial" panose="020B0604020202020204" pitchFamily="34" charset="0"/>
                          <a:cs typeface="Arial" panose="020B0604020202020204" pitchFamily="34" charset="0"/>
                        </a:rPr>
                        <a:t>Risk avoidance</a:t>
                      </a:r>
                      <a:endParaRPr lang="en-US" sz="110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00">
                          <a:solidFill>
                            <a:srgbClr val="58585B"/>
                          </a:solidFill>
                          <a:latin typeface="Arial" panose="020B0604020202020204" pitchFamily="34" charset="0"/>
                          <a:cs typeface="Arial" panose="020B0604020202020204" pitchFamily="34" charset="0"/>
                        </a:rPr>
                        <a:t>This means avoiding any exposure to the risk by eliminating the activity or device that presents the danger. Removing an activity to prevent risk, and any possible benefits from the training are also lost.</a:t>
                      </a:r>
                      <a:endParaRPr lang="en-US" sz="110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825868">
                <a:tc>
                  <a:txBody>
                    <a:bodyPr/>
                    <a:lstStyle/>
                    <a:p>
                      <a:r>
                        <a:rPr lang="en-US" sz="1100">
                          <a:solidFill>
                            <a:srgbClr val="58585B"/>
                          </a:solidFill>
                          <a:latin typeface="Arial" panose="020B0604020202020204" pitchFamily="34" charset="0"/>
                          <a:cs typeface="Arial" panose="020B0604020202020204" pitchFamily="34" charset="0"/>
                        </a:rPr>
                        <a:t>Risk reduction</a:t>
                      </a:r>
                      <a:endParaRPr lang="en-US" sz="110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00">
                          <a:solidFill>
                            <a:srgbClr val="58585B"/>
                          </a:solidFill>
                          <a:latin typeface="Arial" panose="020B0604020202020204" pitchFamily="34" charset="0"/>
                          <a:cs typeface="Arial" panose="020B0604020202020204" pitchFamily="34" charset="0"/>
                        </a:rPr>
                        <a:t>This reduces exposure to risk or the impact of risk by taking action to decrease the risk. It is the most commonly used risk mitigation strategy. This strategy requires careful evaluation of the costs of loss, the mitigation strategy, and the benefits gained from the operation or activity at risk.</a:t>
                      </a:r>
                      <a:endParaRPr lang="en-US" sz="110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275289">
                <a:tc>
                  <a:txBody>
                    <a:bodyPr/>
                    <a:lstStyle/>
                    <a:p>
                      <a:r>
                        <a:rPr lang="en-US" sz="1100">
                          <a:solidFill>
                            <a:srgbClr val="58585B"/>
                          </a:solidFill>
                          <a:latin typeface="Arial" panose="020B0604020202020204" pitchFamily="34" charset="0"/>
                          <a:cs typeface="Arial" panose="020B0604020202020204" pitchFamily="34" charset="0"/>
                        </a:rPr>
                        <a:t>Risk transfer</a:t>
                      </a:r>
                      <a:endParaRPr lang="en-US" sz="110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00" dirty="0">
                          <a:solidFill>
                            <a:srgbClr val="58585B"/>
                          </a:solidFill>
                          <a:latin typeface="Arial" panose="020B0604020202020204" pitchFamily="34" charset="0"/>
                          <a:cs typeface="Arial" panose="020B0604020202020204" pitchFamily="34" charset="0"/>
                        </a:rPr>
                        <a:t>Some or all of the risk is transferred to a willing third party, such as an insurance company.</a:t>
                      </a:r>
                      <a:endParaRPr lang="en-US" sz="1100" dirty="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19</a:t>
            </a:fld>
            <a:endParaRPr lang="en-US"/>
          </a:p>
        </p:txBody>
      </p:sp>
    </p:spTree>
    <p:extLst>
      <p:ext uri="{BB962C8B-B14F-4D97-AF65-F5344CB8AC3E}">
        <p14:creationId xmlns:p14="http://schemas.microsoft.com/office/powerpoint/2010/main" val="5908204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Who is Attacking Our Network?</a:t>
            </a:r>
            <a:endParaRPr lang="en-US" sz="1600"/>
          </a:p>
        </p:txBody>
      </p:sp>
      <p:sp>
        <p:nvSpPr>
          <p:cNvPr id="3" name="Text 0"/>
          <p:cNvSpPr>
            <a:spLocks noGrp="1"/>
          </p:cNvSpPr>
          <p:nvPr>
            <p:ph type="body" idx="100" hasCustomPrompt="1"/>
          </p:nvPr>
        </p:nvSpPr>
        <p:spPr>
          <a:xfrm>
            <a:off x="0" y="274320"/>
            <a:ext cx="9144000" cy="45720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Hacker vs. Threat Actor</a:t>
            </a:r>
            <a:endParaRPr lang="en-US" sz="2200"/>
          </a:p>
        </p:txBody>
      </p:sp>
      <p:sp>
        <p:nvSpPr>
          <p:cNvPr id="5" name="Text 2"/>
          <p:cNvSpPr/>
          <p:nvPr/>
        </p:nvSpPr>
        <p:spPr>
          <a:xfrm>
            <a:off x="596630" y="929153"/>
            <a:ext cx="7788612" cy="3093396"/>
          </a:xfrm>
          <a:prstGeom prst="rect">
            <a:avLst/>
          </a:prstGeom>
          <a:noFill/>
          <a:ln/>
        </p:spPr>
        <p:txBody>
          <a:bodyPr wrap="square" rtlCol="0" anchor="t"/>
          <a:lstStyle/>
          <a:p>
            <a:pPr>
              <a:lnSpc>
                <a:spcPts val="2000"/>
              </a:lnSpc>
            </a:pPr>
            <a:r>
              <a:rPr lang="en-US" sz="1400">
                <a:solidFill>
                  <a:srgbClr val="000000"/>
                </a:solidFill>
                <a:latin typeface="Arial" pitchFamily="34" charset="0"/>
                <a:ea typeface="Arial" pitchFamily="34" charset="-122"/>
                <a:cs typeface="Arial" pitchFamily="34" charset="-120"/>
              </a:rPr>
              <a:t>The term “hacker” has a variety of meanings:</a:t>
            </a:r>
          </a:p>
          <a:p>
            <a:pPr>
              <a:lnSpc>
                <a:spcPts val="2000"/>
              </a:lnSpc>
            </a:pPr>
            <a:endParaRPr lang="en-US" sz="1400">
              <a:solidFill>
                <a:srgbClr val="000000"/>
              </a:solidFill>
              <a:latin typeface="Arial" pitchFamily="34" charset="0"/>
              <a:ea typeface="Arial" pitchFamily="34" charset="-122"/>
              <a:cs typeface="Arial" pitchFamily="34" charset="-120"/>
            </a:endParaRPr>
          </a:p>
          <a:p>
            <a:pPr marL="742950" lvl="1" indent="-285750">
              <a:lnSpc>
                <a:spcPts val="2000"/>
              </a:lnSpc>
              <a:buFont typeface="Arial" panose="020B0604020202020204" pitchFamily="34" charset="0"/>
              <a:buChar char="•"/>
            </a:pPr>
            <a:r>
              <a:rPr lang="en-US" sz="1400">
                <a:solidFill>
                  <a:srgbClr val="000000"/>
                </a:solidFill>
                <a:latin typeface="Arial" pitchFamily="34" charset="0"/>
                <a:ea typeface="Arial" pitchFamily="34" charset="-122"/>
                <a:cs typeface="Arial" pitchFamily="34" charset="-120"/>
              </a:rPr>
              <a:t>A clever programmer capable of developing new programs and coding changes to existing programs to make them more efficient.</a:t>
            </a:r>
          </a:p>
          <a:p>
            <a:pPr marL="742950" lvl="1" indent="-285750">
              <a:lnSpc>
                <a:spcPts val="2000"/>
              </a:lnSpc>
              <a:buFont typeface="Arial" panose="020B0604020202020204" pitchFamily="34" charset="0"/>
              <a:buChar char="•"/>
            </a:pPr>
            <a:r>
              <a:rPr lang="en-US" sz="1400">
                <a:solidFill>
                  <a:srgbClr val="000000"/>
                </a:solidFill>
                <a:latin typeface="Arial" pitchFamily="34" charset="0"/>
                <a:ea typeface="Arial" pitchFamily="34" charset="-122"/>
                <a:cs typeface="Arial" pitchFamily="34" charset="-120"/>
              </a:rPr>
              <a:t>A network professional that uses sophisticated programming skills to ensure that networks are not vulnerable to attack.</a:t>
            </a:r>
          </a:p>
          <a:p>
            <a:pPr marL="742950" lvl="1" indent="-285750">
              <a:lnSpc>
                <a:spcPts val="2000"/>
              </a:lnSpc>
              <a:buFont typeface="Arial" panose="020B0604020202020204" pitchFamily="34" charset="0"/>
              <a:buChar char="•"/>
            </a:pPr>
            <a:r>
              <a:rPr lang="en-US" sz="1400">
                <a:solidFill>
                  <a:srgbClr val="000000"/>
                </a:solidFill>
                <a:latin typeface="Arial" pitchFamily="34" charset="0"/>
                <a:ea typeface="Arial" pitchFamily="34" charset="-122"/>
                <a:cs typeface="Arial" pitchFamily="34" charset="-120"/>
              </a:rPr>
              <a:t>A person who tries to gain unauthorized access to devices on the internet.</a:t>
            </a:r>
          </a:p>
          <a:p>
            <a:pPr marL="742950" lvl="1" indent="-285750">
              <a:lnSpc>
                <a:spcPts val="2000"/>
              </a:lnSpc>
              <a:buFont typeface="Arial" panose="020B0604020202020204" pitchFamily="34" charset="0"/>
              <a:buChar char="•"/>
            </a:pPr>
            <a:r>
              <a:rPr lang="en-US" sz="1400">
                <a:solidFill>
                  <a:srgbClr val="000000"/>
                </a:solidFill>
                <a:latin typeface="Arial" pitchFamily="34" charset="0"/>
                <a:ea typeface="Arial" pitchFamily="34" charset="-122"/>
                <a:cs typeface="Arial" pitchFamily="34" charset="-120"/>
              </a:rPr>
              <a:t>An individual who run programs to prevent or slow network access to many users, or corrupt or wipe out data on servers.</a:t>
            </a:r>
          </a:p>
          <a:p>
            <a:pPr marL="742950" lvl="1" indent="-285750">
              <a:lnSpc>
                <a:spcPts val="2000"/>
              </a:lnSpc>
              <a:buFont typeface="Arial" panose="020B0604020202020204" pitchFamily="34" charset="0"/>
              <a:buChar char="•"/>
            </a:pPr>
            <a:endParaRPr lang="en-US" sz="1400">
              <a:solidFill>
                <a:srgbClr val="000000"/>
              </a:solidFill>
              <a:latin typeface="Arial" pitchFamily="34" charset="0"/>
              <a:cs typeface="Arial" pitchFamily="34" charset="-120"/>
            </a:endParaRPr>
          </a:p>
          <a:p>
            <a:pPr>
              <a:lnSpc>
                <a:spcPts val="2000"/>
              </a:lnSpc>
            </a:pPr>
            <a:r>
              <a:rPr lang="en-US" sz="1400">
                <a:latin typeface="Arial" panose="020B0604020202020204" pitchFamily="34" charset="0"/>
                <a:cs typeface="Arial" panose="020B0604020202020204" pitchFamily="34" charset="0"/>
              </a:rPr>
              <a:t>An attack vector is a path by which a threat actor can gain access to a server, host, or network.</a:t>
            </a: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Who is Attacking Our Network?</a:t>
            </a:r>
            <a:endParaRPr lang="en-US" sz="1600" dirty="0"/>
          </a:p>
        </p:txBody>
      </p:sp>
      <p:sp>
        <p:nvSpPr>
          <p:cNvPr id="3" name="Text 0"/>
          <p:cNvSpPr>
            <a:spLocks noGrp="1"/>
          </p:cNvSpPr>
          <p:nvPr>
            <p:ph type="body" idx="100" hasCustomPrompt="1"/>
          </p:nvPr>
        </p:nvSpPr>
        <p:spPr>
          <a:xfrm>
            <a:off x="0" y="274320"/>
            <a:ext cx="9144000" cy="472440"/>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Hacker vs. Threat Actor </a:t>
            </a:r>
            <a:r>
              <a:rPr lang="en-US" dirty="0"/>
              <a:t>(</a:t>
            </a:r>
            <a:r>
              <a:rPr lang="en-US" sz="2200" dirty="0">
                <a:solidFill>
                  <a:srgbClr val="024C69"/>
                </a:solidFill>
                <a:latin typeface="Arial" pitchFamily="34" charset="0"/>
                <a:ea typeface="Arial" pitchFamily="34" charset="-122"/>
                <a:cs typeface="Arial" pitchFamily="34" charset="-120"/>
              </a:rPr>
              <a:t>Cont.)</a:t>
            </a:r>
            <a:endParaRPr lang="en-US" sz="2200" dirty="0"/>
          </a:p>
        </p:txBody>
      </p:sp>
      <p:sp>
        <p:nvSpPr>
          <p:cNvPr id="5" name="Text 2"/>
          <p:cNvSpPr/>
          <p:nvPr/>
        </p:nvSpPr>
        <p:spPr>
          <a:xfrm>
            <a:off x="596630" y="901835"/>
            <a:ext cx="7788612" cy="3339830"/>
          </a:xfrm>
          <a:prstGeom prst="rect">
            <a:avLst/>
          </a:prstGeom>
          <a:noFill/>
          <a:ln/>
        </p:spPr>
        <p:txBody>
          <a:bodyPr wrap="square" lIns="91440" tIns="45720" rIns="91440" bIns="45720" rtlCol="0" anchor="t"/>
          <a:lstStyle/>
          <a:p>
            <a:pPr>
              <a:lnSpc>
                <a:spcPts val="2000"/>
              </a:lnSpc>
            </a:pPr>
            <a:r>
              <a:rPr lang="en-US" sz="1400" b="1" dirty="0">
                <a:solidFill>
                  <a:srgbClr val="000000"/>
                </a:solidFill>
                <a:latin typeface="Arial"/>
                <a:ea typeface="Arial" pitchFamily="34" charset="-122"/>
                <a:cs typeface="Arial"/>
              </a:rPr>
              <a:t>White hat hacker, black hat hacker, and grey hat hacker</a:t>
            </a:r>
            <a:r>
              <a:rPr lang="en-US" sz="1400" dirty="0">
                <a:solidFill>
                  <a:srgbClr val="000000"/>
                </a:solidFill>
                <a:latin typeface="Arial"/>
                <a:ea typeface="Arial" pitchFamily="34" charset="-122"/>
                <a:cs typeface="Arial"/>
              </a:rPr>
              <a:t>:</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marL="285750" indent="-285750">
              <a:lnSpc>
                <a:spcPts val="2000"/>
              </a:lnSpc>
              <a:buFont typeface="Arial" panose="020B0604020202020204" pitchFamily="34" charset="0"/>
              <a:buChar char="•"/>
            </a:pPr>
            <a:r>
              <a:rPr lang="en-US" sz="1400" dirty="0">
                <a:solidFill>
                  <a:srgbClr val="000000"/>
                </a:solidFill>
                <a:latin typeface="Arial"/>
                <a:ea typeface="Arial" pitchFamily="34" charset="-122"/>
                <a:cs typeface="Arial"/>
              </a:rPr>
              <a:t>White hat hackers are ethical hackers who use their programming skills for good, ethical, and legal purposes. They may perform network penetration tests in an attempt to compromise networks and systems by using their knowledge of computer security systems to discover network vulnerabilities.</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Grey hat hackers are individuals who commit crimes and do arguably unethical things, but not for personal gain or to cause damage. An example would be someone who compromises a network without permission and then discloses the vulnerability publicly. </a:t>
            </a:r>
          </a:p>
          <a:p>
            <a:pPr marL="285750" indent="-285750">
              <a:lnSpc>
                <a:spcPts val="2000"/>
              </a:lnSpc>
              <a:buFont typeface="Arial" panose="020B0604020202020204" pitchFamily="34" charset="0"/>
              <a:buChar char="•"/>
            </a:pPr>
            <a:r>
              <a:rPr lang="en-US" sz="1400" dirty="0">
                <a:solidFill>
                  <a:srgbClr val="000000"/>
                </a:solidFill>
                <a:latin typeface="Arial"/>
                <a:ea typeface="Arial" pitchFamily="34" charset="-122"/>
                <a:cs typeface="Arial"/>
              </a:rPr>
              <a:t>Black hat hackers are unethical criminals who violate computer and network security for personal gain or for malicious reasons, such as attacking networks. Black hat hackers exploit vulnerabilities to compromise computer and network systems.</a:t>
            </a: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21</a:t>
            </a:fld>
            <a:endParaRPr lang="en-US"/>
          </a:p>
        </p:txBody>
      </p:sp>
    </p:spTree>
    <p:extLst>
      <p:ext uri="{BB962C8B-B14F-4D97-AF65-F5344CB8AC3E}">
        <p14:creationId xmlns:p14="http://schemas.microsoft.com/office/powerpoint/2010/main" val="42536343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Who is Attacking Our Network?</a:t>
            </a:r>
            <a:endParaRPr lang="en-US" sz="1600"/>
          </a:p>
        </p:txBody>
      </p:sp>
      <p:sp>
        <p:nvSpPr>
          <p:cNvPr id="3" name="Text 0"/>
          <p:cNvSpPr>
            <a:spLocks noGrp="1"/>
          </p:cNvSpPr>
          <p:nvPr>
            <p:ph type="body" idx="100" hasCustomPrompt="1"/>
          </p:nvPr>
        </p:nvSpPr>
        <p:spPr>
          <a:xfrm>
            <a:off x="0" y="274320"/>
            <a:ext cx="9144000" cy="42672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Evolution of Threat Actors</a:t>
            </a:r>
            <a:endParaRPr lang="en-US" sz="2200"/>
          </a:p>
        </p:txBody>
      </p:sp>
      <p:graphicFrame>
        <p:nvGraphicFramePr>
          <p:cNvPr id="4" name="Table 3">
            <a:extLst>
              <a:ext uri="{FF2B5EF4-FFF2-40B4-BE49-F238E27FC236}">
                <a16:creationId xmlns:a16="http://schemas.microsoft.com/office/drawing/2014/main" id="{CD58A51C-F191-CC7C-5975-EF673415A1A8}"/>
              </a:ext>
            </a:extLst>
          </p:cNvPr>
          <p:cNvGraphicFramePr>
            <a:graphicFrameLocks noGrp="1"/>
          </p:cNvGraphicFramePr>
          <p:nvPr>
            <p:extLst>
              <p:ext uri="{D42A27DB-BD31-4B8C-83A1-F6EECF244321}">
                <p14:modId xmlns:p14="http://schemas.microsoft.com/office/powerpoint/2010/main" val="2492810083"/>
              </p:ext>
            </p:extLst>
          </p:nvPr>
        </p:nvGraphicFramePr>
        <p:xfrm>
          <a:off x="163262" y="975360"/>
          <a:ext cx="8817475" cy="2895600"/>
        </p:xfrm>
        <a:graphic>
          <a:graphicData uri="http://schemas.openxmlformats.org/drawingml/2006/table">
            <a:tbl>
              <a:tblPr/>
              <a:tblGrid>
                <a:gridCol w="2189697">
                  <a:extLst>
                    <a:ext uri="{9D8B030D-6E8A-4147-A177-3AD203B41FA5}">
                      <a16:colId xmlns:a16="http://schemas.microsoft.com/office/drawing/2014/main" val="3672417704"/>
                    </a:ext>
                  </a:extLst>
                </a:gridCol>
                <a:gridCol w="6627778">
                  <a:extLst>
                    <a:ext uri="{9D8B030D-6E8A-4147-A177-3AD203B41FA5}">
                      <a16:colId xmlns:a16="http://schemas.microsoft.com/office/drawing/2014/main" val="1537393773"/>
                    </a:ext>
                  </a:extLst>
                </a:gridCol>
              </a:tblGrid>
              <a:tr h="0">
                <a:tc>
                  <a:txBody>
                    <a:bodyPr/>
                    <a:lstStyle/>
                    <a:p>
                      <a:r>
                        <a:rPr lang="en-US" sz="1100">
                          <a:solidFill>
                            <a:srgbClr val="FFFFFF"/>
                          </a:solidFill>
                          <a:latin typeface="Arial" panose="020B0604020202020204" pitchFamily="34" charset="0"/>
                          <a:cs typeface="Arial" panose="020B0604020202020204" pitchFamily="34" charset="0"/>
                        </a:rPr>
                        <a:t>Threat Actors</a:t>
                      </a:r>
                      <a:endParaRPr lang="en-US" sz="110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100">
                          <a:solidFill>
                            <a:srgbClr val="FFFFFF"/>
                          </a:solidFill>
                          <a:latin typeface="Arial" panose="020B0604020202020204" pitchFamily="34" charset="0"/>
                          <a:cs typeface="Arial" panose="020B0604020202020204" pitchFamily="34" charset="0"/>
                        </a:rPr>
                        <a:t>Explanation</a:t>
                      </a:r>
                      <a:endParaRPr lang="en-US" sz="110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3790555357"/>
                  </a:ext>
                </a:extLst>
              </a:tr>
              <a:tr h="0">
                <a:tc>
                  <a:txBody>
                    <a:bodyPr/>
                    <a:lstStyle/>
                    <a:p>
                      <a:r>
                        <a:rPr lang="en-US" sz="1100">
                          <a:solidFill>
                            <a:srgbClr val="58585B"/>
                          </a:solidFill>
                          <a:latin typeface="Arial" panose="020B0604020202020204" pitchFamily="34" charset="0"/>
                          <a:cs typeface="Arial" panose="020B0604020202020204" pitchFamily="34" charset="0"/>
                        </a:rPr>
                        <a:t>Script kiddies</a:t>
                      </a:r>
                      <a:endParaRPr lang="en-US" sz="110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00">
                          <a:solidFill>
                            <a:srgbClr val="58585B"/>
                          </a:solidFill>
                          <a:latin typeface="Arial" panose="020B0604020202020204" pitchFamily="34" charset="0"/>
                          <a:cs typeface="Arial" panose="020B0604020202020204" pitchFamily="34" charset="0"/>
                        </a:rPr>
                        <a:t>Script kiddies emerged in the 1990s and refer to teenagers or inexperienced threat actors running existing scripts, tools, and exploits to cause harm, but typically not for profit.</a:t>
                      </a:r>
                      <a:endParaRPr lang="en-US" sz="110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607840032"/>
                  </a:ext>
                </a:extLst>
              </a:tr>
              <a:tr h="0">
                <a:tc>
                  <a:txBody>
                    <a:bodyPr/>
                    <a:lstStyle/>
                    <a:p>
                      <a:r>
                        <a:rPr lang="en-US" sz="1100">
                          <a:solidFill>
                            <a:srgbClr val="58585B"/>
                          </a:solidFill>
                          <a:latin typeface="Arial" panose="020B0604020202020204" pitchFamily="34" charset="0"/>
                          <a:cs typeface="Arial" panose="020B0604020202020204" pitchFamily="34" charset="0"/>
                        </a:rPr>
                        <a:t>Vulnerability brokers</a:t>
                      </a:r>
                      <a:endParaRPr lang="en-US" sz="110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00" dirty="0">
                          <a:solidFill>
                            <a:srgbClr val="58585B"/>
                          </a:solidFill>
                          <a:latin typeface="Arial" panose="020B0604020202020204" pitchFamily="34" charset="0"/>
                          <a:cs typeface="Arial" panose="020B0604020202020204" pitchFamily="34" charset="0"/>
                        </a:rPr>
                        <a:t>Vulnerability brokers typically refer to grey hat hackers who attempt to discover exploits and report them to vendors, sometimes for prizes or rewards.</a:t>
                      </a:r>
                      <a:endParaRPr lang="en-US" sz="1100" dirty="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3893622772"/>
                  </a:ext>
                </a:extLst>
              </a:tr>
              <a:tr h="0">
                <a:tc>
                  <a:txBody>
                    <a:bodyPr/>
                    <a:lstStyle/>
                    <a:p>
                      <a:r>
                        <a:rPr lang="en-US" sz="1100">
                          <a:solidFill>
                            <a:srgbClr val="58585B"/>
                          </a:solidFill>
                          <a:latin typeface="Arial" panose="020B0604020202020204" pitchFamily="34" charset="0"/>
                          <a:cs typeface="Arial" panose="020B0604020202020204" pitchFamily="34" charset="0"/>
                        </a:rPr>
                        <a:t>Hacktivists</a:t>
                      </a:r>
                      <a:endParaRPr lang="en-US" sz="110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00">
                          <a:solidFill>
                            <a:srgbClr val="58585B"/>
                          </a:solidFill>
                          <a:latin typeface="Arial" panose="020B0604020202020204" pitchFamily="34" charset="0"/>
                          <a:cs typeface="Arial" panose="020B0604020202020204" pitchFamily="34" charset="0"/>
                        </a:rPr>
                        <a:t>Hacktivists is a term that refers to grey hat hackers who rally and protest against different political and social ideas. Hacktivists publicly protest against organizations or governments by posting articles, and videos, leaking sensitive information and performing distributed denial of service (DDoS) attacks.</a:t>
                      </a:r>
                      <a:endParaRPr lang="en-US" sz="110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491879712"/>
                  </a:ext>
                </a:extLst>
              </a:tr>
              <a:tr h="0">
                <a:tc>
                  <a:txBody>
                    <a:bodyPr/>
                    <a:lstStyle/>
                    <a:p>
                      <a:r>
                        <a:rPr lang="en-US" sz="1100">
                          <a:solidFill>
                            <a:srgbClr val="58585B"/>
                          </a:solidFill>
                          <a:latin typeface="Arial" panose="020B0604020202020204" pitchFamily="34" charset="0"/>
                          <a:cs typeface="Arial" panose="020B0604020202020204" pitchFamily="34" charset="0"/>
                        </a:rPr>
                        <a:t>Cybercriminals</a:t>
                      </a:r>
                      <a:endParaRPr lang="en-US" sz="110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00">
                          <a:solidFill>
                            <a:srgbClr val="58585B"/>
                          </a:solidFill>
                          <a:latin typeface="Arial" panose="020B0604020202020204" pitchFamily="34" charset="0"/>
                          <a:cs typeface="Arial" panose="020B0604020202020204" pitchFamily="34" charset="0"/>
                        </a:rPr>
                        <a:t>Cybercriminal is a term for black hat hackers who are self-employed or working for large cybercrime organizations. Cybercriminals steal billions of dollars from consumers and businesses each year.</a:t>
                      </a:r>
                      <a:endParaRPr lang="en-US" sz="1100">
                        <a:latin typeface="Arial" panose="020B0604020202020204" pitchFamily="34" charset="0"/>
                        <a:cs typeface="Arial" panose="020B0604020202020204" pitchFamily="34" charset="0"/>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4141766425"/>
                  </a:ext>
                </a:extLst>
              </a:tr>
              <a:tr h="0">
                <a:tc>
                  <a:txBody>
                    <a:bodyPr/>
                    <a:lstStyle/>
                    <a:p>
                      <a:pPr marL="0" algn="l" defTabSz="914400" rtl="0" eaLnBrk="1" latinLnBrk="0" hangingPunct="1"/>
                      <a:r>
                        <a:rPr lang="en-US" sz="1100" kern="1200">
                          <a:solidFill>
                            <a:srgbClr val="58585B"/>
                          </a:solidFill>
                          <a:latin typeface="Arial" panose="020B0604020202020204" pitchFamily="34" charset="0"/>
                          <a:ea typeface="+mn-ea"/>
                          <a:cs typeface="Arial" panose="020B0604020202020204" pitchFamily="34" charset="0"/>
                        </a:rPr>
                        <a:t>State-sponsored</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00" kern="1200" dirty="0">
                          <a:solidFill>
                            <a:srgbClr val="58585B"/>
                          </a:solidFill>
                          <a:latin typeface="Arial" panose="020B0604020202020204" pitchFamily="34" charset="0"/>
                          <a:ea typeface="+mn-ea"/>
                          <a:cs typeface="Arial" panose="020B0604020202020204" pitchFamily="34" charset="0"/>
                        </a:rPr>
                        <a:t>State-Sponsored hackers are threat actors who steal government secrets, gather intelligence, and sabotage networks of foreign governments, terrorist groups, and corporations. Most countries in the world participate to some degree in state-sponsored hacking. Depending on a person’s perspective, these are either white or black hat hackers.</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3580971433"/>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Who is Attacking Our Network?</a:t>
            </a:r>
            <a:endParaRPr lang="en-US" sz="1600"/>
          </a:p>
        </p:txBody>
      </p:sp>
      <p:sp>
        <p:nvSpPr>
          <p:cNvPr id="3" name="Text 0"/>
          <p:cNvSpPr>
            <a:spLocks noGrp="1"/>
          </p:cNvSpPr>
          <p:nvPr>
            <p:ph type="body" idx="100" hasCustomPrompt="1"/>
          </p:nvPr>
        </p:nvSpPr>
        <p:spPr>
          <a:xfrm>
            <a:off x="0" y="274320"/>
            <a:ext cx="9144000" cy="50292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Cybercriminals</a:t>
            </a:r>
            <a:endParaRPr lang="en-US" sz="2200"/>
          </a:p>
        </p:txBody>
      </p:sp>
      <p:sp>
        <p:nvSpPr>
          <p:cNvPr id="5" name="Text 2"/>
          <p:cNvSpPr/>
          <p:nvPr/>
        </p:nvSpPr>
        <p:spPr>
          <a:xfrm>
            <a:off x="330741" y="910832"/>
            <a:ext cx="7717276" cy="2795081"/>
          </a:xfrm>
          <a:prstGeom prst="rect">
            <a:avLst/>
          </a:prstGeom>
          <a:noFill/>
          <a:ln/>
        </p:spPr>
        <p:txBody>
          <a:bodyPr wrap="square" rtlCol="0" anchor="t"/>
          <a:lstStyle/>
          <a:p>
            <a:pPr marL="742950" lvl="1" indent="-285750">
              <a:lnSpc>
                <a:spcPts val="2000"/>
              </a:lnSpc>
              <a:buFont typeface="Arial" panose="020B0604020202020204" pitchFamily="34" charset="0"/>
              <a:buChar char="•"/>
            </a:pPr>
            <a:r>
              <a:rPr lang="en-US" sz="1400">
                <a:latin typeface="Arial" panose="020B0604020202020204" pitchFamily="34" charset="0"/>
                <a:cs typeface="Arial" panose="020B0604020202020204" pitchFamily="34" charset="0"/>
              </a:rPr>
              <a:t>Cybercriminals are threat actors motivated to make money using any means necessary. </a:t>
            </a:r>
          </a:p>
          <a:p>
            <a:pPr marL="742950" lvl="1" indent="-285750">
              <a:lnSpc>
                <a:spcPts val="2000"/>
              </a:lnSpc>
              <a:buFont typeface="Arial" panose="020B0604020202020204" pitchFamily="34" charset="0"/>
              <a:buChar char="•"/>
            </a:pPr>
            <a:r>
              <a:rPr lang="en-US" sz="1400">
                <a:latin typeface="Arial" panose="020B0604020202020204" pitchFamily="34" charset="0"/>
                <a:cs typeface="Arial" panose="020B0604020202020204" pitchFamily="34" charset="0"/>
              </a:rPr>
              <a:t>While sometimes cybercriminals work independently, they are more often financed and sponsored by criminal organizations.</a:t>
            </a:r>
          </a:p>
          <a:p>
            <a:pPr marL="742950" lvl="1" indent="-285750">
              <a:lnSpc>
                <a:spcPts val="2000"/>
              </a:lnSpc>
              <a:buFont typeface="Arial" panose="020B0604020202020204" pitchFamily="34" charset="0"/>
              <a:buChar char="•"/>
            </a:pPr>
            <a:r>
              <a:rPr lang="en-US" sz="1400">
                <a:latin typeface="Arial" panose="020B0604020202020204" pitchFamily="34" charset="0"/>
                <a:cs typeface="Arial" panose="020B0604020202020204" pitchFamily="34" charset="0"/>
              </a:rPr>
              <a:t>Cybercriminals operate in an underground economy where they buy, sell, and trade exploits and tools. </a:t>
            </a:r>
          </a:p>
          <a:p>
            <a:pPr marL="742950" lvl="1" indent="-285750">
              <a:lnSpc>
                <a:spcPts val="2000"/>
              </a:lnSpc>
              <a:buFont typeface="Arial" panose="020B0604020202020204" pitchFamily="34" charset="0"/>
              <a:buChar char="•"/>
            </a:pPr>
            <a:r>
              <a:rPr lang="en-US" sz="1400">
                <a:latin typeface="Arial" panose="020B0604020202020204" pitchFamily="34" charset="0"/>
                <a:cs typeface="Arial" panose="020B0604020202020204" pitchFamily="34" charset="0"/>
              </a:rPr>
              <a:t>They also buy and sell the personal information and intellectual property they steal from victims. </a:t>
            </a:r>
          </a:p>
          <a:p>
            <a:pPr marL="742950" lvl="1" indent="-285750">
              <a:lnSpc>
                <a:spcPts val="2000"/>
              </a:lnSpc>
              <a:buFont typeface="Arial" panose="020B0604020202020204" pitchFamily="34" charset="0"/>
              <a:buChar char="•"/>
            </a:pPr>
            <a:r>
              <a:rPr lang="en-US" sz="1400">
                <a:latin typeface="Arial" panose="020B0604020202020204" pitchFamily="34" charset="0"/>
                <a:cs typeface="Arial" panose="020B0604020202020204" pitchFamily="34" charset="0"/>
              </a:rPr>
              <a:t>Cybercriminals target small businesses, consumers, and large enterprises and industries.</a:t>
            </a: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Who is Attacking Our Network?</a:t>
            </a:r>
            <a:endParaRPr lang="en-US" sz="1600"/>
          </a:p>
        </p:txBody>
      </p:sp>
      <p:sp>
        <p:nvSpPr>
          <p:cNvPr id="3" name="Text 0"/>
          <p:cNvSpPr>
            <a:spLocks noGrp="1"/>
          </p:cNvSpPr>
          <p:nvPr>
            <p:ph type="body" idx="100" hasCustomPrompt="1"/>
          </p:nvPr>
        </p:nvSpPr>
        <p:spPr>
          <a:xfrm>
            <a:off x="0" y="274320"/>
            <a:ext cx="9144000" cy="48768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Cybersecurity Tasks</a:t>
            </a:r>
            <a:endParaRPr lang="en-US" sz="2200"/>
          </a:p>
        </p:txBody>
      </p:sp>
      <p:sp>
        <p:nvSpPr>
          <p:cNvPr id="5" name="Text 2"/>
          <p:cNvSpPr/>
          <p:nvPr/>
        </p:nvSpPr>
        <p:spPr>
          <a:xfrm>
            <a:off x="304801" y="1285874"/>
            <a:ext cx="5804169" cy="2968355"/>
          </a:xfrm>
          <a:prstGeom prst="rect">
            <a:avLst/>
          </a:prstGeom>
          <a:noFill/>
          <a:ln/>
        </p:spPr>
        <p:txBody>
          <a:bodyPr wrap="square" lIns="91440" tIns="45720" rIns="91440" bIns="45720" rtlCol="0" anchor="t"/>
          <a:lstStyle/>
          <a:p>
            <a:pPr marL="285750" indent="-285750">
              <a:lnSpc>
                <a:spcPts val="2000"/>
              </a:lnSpc>
              <a:buFont typeface="Arial" panose="020B0604020202020204" pitchFamily="34" charset="0"/>
              <a:buChar char="•"/>
            </a:pPr>
            <a:r>
              <a:rPr lang="en-US" sz="1400">
                <a:solidFill>
                  <a:srgbClr val="000000"/>
                </a:solidFill>
                <a:latin typeface="Arial"/>
                <a:ea typeface="Arial" pitchFamily="34" charset="-122"/>
                <a:cs typeface="Arial"/>
              </a:rPr>
              <a:t>Threat actors target the vulnerable end devices of home users, small-to-medium-sized businesses, and large public and private organizations.</a:t>
            </a:r>
          </a:p>
          <a:p>
            <a:pPr marL="285750" indent="-285750">
              <a:lnSpc>
                <a:spcPts val="2000"/>
              </a:lnSpc>
              <a:buFont typeface="Arial" panose="020B0604020202020204" pitchFamily="34" charset="0"/>
              <a:buChar char="•"/>
            </a:pPr>
            <a:r>
              <a:rPr lang="en-US" sz="1400">
                <a:solidFill>
                  <a:srgbClr val="000000"/>
                </a:solidFill>
                <a:latin typeface="Arial"/>
                <a:ea typeface="Arial" pitchFamily="34" charset="-122"/>
                <a:cs typeface="Arial"/>
              </a:rPr>
              <a:t>To make the internet and networks safer and more secure, we must develop good cybersecurity awareness. </a:t>
            </a:r>
            <a:endParaRPr lang="en-US" sz="1400">
              <a:solidFill>
                <a:srgbClr val="000000"/>
              </a:solidFill>
              <a:latin typeface="Arial"/>
              <a:ea typeface="Arial" pitchFamily="34" charset="-122"/>
              <a:cs typeface="Arial" pitchFamily="34" charset="-120"/>
            </a:endParaRPr>
          </a:p>
          <a:p>
            <a:pPr marL="285750" indent="-285750">
              <a:lnSpc>
                <a:spcPts val="2000"/>
              </a:lnSpc>
              <a:buFont typeface="Arial" panose="020B0604020202020204" pitchFamily="34" charset="0"/>
              <a:buChar char="•"/>
            </a:pPr>
            <a:r>
              <a:rPr lang="en-US" sz="1400">
                <a:solidFill>
                  <a:srgbClr val="000000"/>
                </a:solidFill>
                <a:latin typeface="Arial"/>
                <a:ea typeface="Arial" pitchFamily="34" charset="-122"/>
                <a:cs typeface="Arial"/>
              </a:rPr>
              <a:t>Cybersecurity is a shared responsibility that all users must practice. </a:t>
            </a:r>
            <a:endParaRPr lang="en-US" sz="1400">
              <a:solidFill>
                <a:srgbClr val="000000"/>
              </a:solidFill>
              <a:latin typeface="Arial"/>
              <a:ea typeface="Arial" pitchFamily="34" charset="-122"/>
              <a:cs typeface="Arial" pitchFamily="34" charset="-120"/>
            </a:endParaRPr>
          </a:p>
          <a:p>
            <a:pPr marL="285750" indent="-285750">
              <a:lnSpc>
                <a:spcPts val="2000"/>
              </a:lnSpc>
              <a:buFont typeface="Arial" panose="020B0604020202020204" pitchFamily="34" charset="0"/>
              <a:buChar char="•"/>
            </a:pPr>
            <a:r>
              <a:rPr lang="en-US" sz="1400">
                <a:solidFill>
                  <a:srgbClr val="000000"/>
                </a:solidFill>
                <a:latin typeface="Arial"/>
                <a:ea typeface="Arial" pitchFamily="34" charset="-122"/>
                <a:cs typeface="Arial"/>
              </a:rPr>
              <a:t>Organizations must take action and protect their assets, users, and customers. They must develop and practice cybersecurity tasks like those listed in the figure.</a:t>
            </a:r>
            <a:endParaRPr lang="en-US" sz="1400">
              <a:latin typeface="Arial"/>
              <a:cs typeface="Arial"/>
            </a:endParaRPr>
          </a:p>
        </p:txBody>
      </p:sp>
      <p:pic>
        <p:nvPicPr>
          <p:cNvPr id="6" name="Picture 5" descr="A picture containing text, person&#10;&#10;Description automatically generated">
            <a:extLst>
              <a:ext uri="{FF2B5EF4-FFF2-40B4-BE49-F238E27FC236}">
                <a16:creationId xmlns:a16="http://schemas.microsoft.com/office/drawing/2014/main" id="{816BB794-BBFA-4B72-18BF-61814340FE36}"/>
              </a:ext>
            </a:extLst>
          </p:cNvPr>
          <p:cNvPicPr>
            <a:picLocks noChangeAspect="1"/>
          </p:cNvPicPr>
          <p:nvPr/>
        </p:nvPicPr>
        <p:blipFill>
          <a:blip r:embed="rId3"/>
          <a:stretch>
            <a:fillRect/>
          </a:stretch>
        </p:blipFill>
        <p:spPr>
          <a:xfrm>
            <a:off x="6126481" y="1589256"/>
            <a:ext cx="2788919" cy="1964987"/>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Who is Attacking Our Network?</a:t>
            </a:r>
            <a:endParaRPr lang="en-US" sz="1600"/>
          </a:p>
        </p:txBody>
      </p:sp>
      <p:sp>
        <p:nvSpPr>
          <p:cNvPr id="3" name="Text 0"/>
          <p:cNvSpPr>
            <a:spLocks noGrp="1"/>
          </p:cNvSpPr>
          <p:nvPr>
            <p:ph type="body" idx="100" hasCustomPrompt="1"/>
          </p:nvPr>
        </p:nvSpPr>
        <p:spPr>
          <a:xfrm>
            <a:off x="0" y="274320"/>
            <a:ext cx="9144000" cy="51119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Cyber Threat Indicators</a:t>
            </a:r>
            <a:endParaRPr lang="en-US" sz="2200"/>
          </a:p>
        </p:txBody>
      </p:sp>
      <p:sp>
        <p:nvSpPr>
          <p:cNvPr id="5" name="Text 2"/>
          <p:cNvSpPr/>
          <p:nvPr/>
        </p:nvSpPr>
        <p:spPr>
          <a:xfrm>
            <a:off x="457200" y="1067449"/>
            <a:ext cx="8229600" cy="3169271"/>
          </a:xfrm>
          <a:prstGeom prst="rect">
            <a:avLst/>
          </a:prstGeom>
          <a:noFill/>
          <a:ln/>
        </p:spPr>
        <p:txBody>
          <a:bodyPr wrap="square" lIns="91440" tIns="45720" rIns="91440" bIns="45720" rtlCol="0" anchor="t"/>
          <a:lstStyle/>
          <a:p>
            <a:pPr marL="285750" indent="-285750">
              <a:lnSpc>
                <a:spcPts val="2000"/>
              </a:lnSpc>
              <a:buFont typeface="Arial" panose="020B0604020202020204" pitchFamily="34" charset="0"/>
              <a:buChar char="•"/>
            </a:pPr>
            <a:r>
              <a:rPr lang="en-US" sz="1400">
                <a:solidFill>
                  <a:srgbClr val="000000"/>
                </a:solidFill>
                <a:latin typeface="Arial"/>
                <a:ea typeface="Arial" pitchFamily="34" charset="-122"/>
                <a:cs typeface="Arial"/>
              </a:rPr>
              <a:t>Many network attacks can be prevented by sharing information about indicators of compromise (IOC). </a:t>
            </a:r>
            <a:endParaRPr lang="en-US" sz="1400">
              <a:solidFill>
                <a:srgbClr val="000000"/>
              </a:solidFill>
              <a:latin typeface="Arial"/>
              <a:ea typeface="Arial" pitchFamily="34" charset="-122"/>
              <a:cs typeface="Arial" pitchFamily="34" charset="-120"/>
            </a:endParaRPr>
          </a:p>
          <a:p>
            <a:pPr marL="285750" indent="-285750">
              <a:lnSpc>
                <a:spcPts val="2000"/>
              </a:lnSpc>
              <a:buFont typeface="Arial" panose="020B0604020202020204" pitchFamily="34" charset="0"/>
              <a:buChar char="•"/>
            </a:pPr>
            <a:r>
              <a:rPr lang="en-US" sz="1400">
                <a:solidFill>
                  <a:srgbClr val="000000"/>
                </a:solidFill>
                <a:latin typeface="Arial"/>
                <a:ea typeface="Arial" pitchFamily="34" charset="-122"/>
                <a:cs typeface="Arial"/>
              </a:rPr>
              <a:t>IOCs can be features that identify malware files, IP addresses of servers used in attacks, filenames, and characteristic changes made to end system software, among others. </a:t>
            </a:r>
            <a:endParaRPr lang="en-US" sz="1400">
              <a:solidFill>
                <a:srgbClr val="000000"/>
              </a:solidFill>
              <a:latin typeface="Arial"/>
              <a:ea typeface="Arial" pitchFamily="34" charset="-122"/>
              <a:cs typeface="Arial" pitchFamily="34" charset="-120"/>
            </a:endParaRPr>
          </a:p>
          <a:p>
            <a:pPr marL="285750" indent="-285750">
              <a:lnSpc>
                <a:spcPts val="2000"/>
              </a:lnSpc>
              <a:buFont typeface="Arial" panose="020B0604020202020204" pitchFamily="34" charset="0"/>
              <a:buChar char="•"/>
            </a:pPr>
            <a:r>
              <a:rPr lang="en-US" sz="1400">
                <a:solidFill>
                  <a:srgbClr val="000000"/>
                </a:solidFill>
                <a:latin typeface="Arial"/>
                <a:ea typeface="Arial" pitchFamily="34" charset="-122"/>
                <a:cs typeface="Arial"/>
              </a:rPr>
              <a:t>IOCs help cybersecurity personnel identify what has happened in an attack and develop defenses against the attack. </a:t>
            </a:r>
            <a:endParaRPr lang="en-US" sz="1400">
              <a:solidFill>
                <a:srgbClr val="000000"/>
              </a:solidFill>
              <a:latin typeface="Arial"/>
              <a:ea typeface="Arial" pitchFamily="34" charset="-122"/>
              <a:cs typeface="Arial" pitchFamily="34" charset="-120"/>
            </a:endParaRPr>
          </a:p>
          <a:p>
            <a:pPr marL="285750" indent="-285750">
              <a:lnSpc>
                <a:spcPts val="2000"/>
              </a:lnSpc>
              <a:buFont typeface="Arial" panose="020B0604020202020204" pitchFamily="34" charset="0"/>
              <a:buChar char="•"/>
            </a:pPr>
            <a:r>
              <a:rPr lang="en-US" sz="1400">
                <a:solidFill>
                  <a:srgbClr val="000000"/>
                </a:solidFill>
                <a:latin typeface="Arial"/>
                <a:ea typeface="Arial" pitchFamily="34" charset="-122"/>
                <a:cs typeface="Arial"/>
              </a:rPr>
              <a:t>Indicators of attack (IOA) focus more on the motivation behind an attack and the potential means by which threat actors have, or will, compromise vulnerabilities to gain access to assets. </a:t>
            </a:r>
            <a:endParaRPr lang="en-US" sz="1400">
              <a:solidFill>
                <a:srgbClr val="000000"/>
              </a:solidFill>
              <a:latin typeface="Arial"/>
              <a:ea typeface="Arial" pitchFamily="34" charset="-122"/>
              <a:cs typeface="Arial" pitchFamily="34" charset="-120"/>
            </a:endParaRPr>
          </a:p>
          <a:p>
            <a:pPr marL="285750" indent="-285750">
              <a:lnSpc>
                <a:spcPts val="2000"/>
              </a:lnSpc>
              <a:buFont typeface="Arial" panose="020B0604020202020204" pitchFamily="34" charset="0"/>
              <a:buChar char="•"/>
            </a:pPr>
            <a:r>
              <a:rPr lang="en-US" sz="1400">
                <a:solidFill>
                  <a:srgbClr val="000000"/>
                </a:solidFill>
                <a:latin typeface="Arial"/>
                <a:ea typeface="Arial" pitchFamily="34" charset="-122"/>
                <a:cs typeface="Arial"/>
              </a:rPr>
              <a:t>IOAs are concerned with the strategies that attackers use. For this reason, IOAs can help generate a proactive security approach rather than responding to a single threat. </a:t>
            </a:r>
            <a:endParaRPr lang="en-US" sz="1400">
              <a:solidFill>
                <a:srgbClr val="000000"/>
              </a:solidFill>
              <a:latin typeface="Arial"/>
              <a:ea typeface="Arial" pitchFamily="34" charset="-122"/>
              <a:cs typeface="Arial" pitchFamily="34" charset="-120"/>
            </a:endParaRPr>
          </a:p>
          <a:p>
            <a:pPr marL="285750" indent="-285750">
              <a:lnSpc>
                <a:spcPts val="2000"/>
              </a:lnSpc>
              <a:buFont typeface="Arial" panose="020B0604020202020204" pitchFamily="34" charset="0"/>
              <a:buChar char="•"/>
            </a:pPr>
            <a:r>
              <a:rPr lang="en-US" sz="1400">
                <a:solidFill>
                  <a:srgbClr val="000000"/>
                </a:solidFill>
                <a:latin typeface="Arial"/>
                <a:ea typeface="Arial" pitchFamily="34" charset="-122"/>
                <a:cs typeface="Arial"/>
              </a:rPr>
              <a:t>Defending against a strategy can prevent future attacks that utilize the same or similar strategy.</a:t>
            </a:r>
            <a:endParaRPr lang="en-US" sz="140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Who is Attacking Our Network?</a:t>
            </a:r>
            <a:endParaRPr lang="en-US" sz="1600"/>
          </a:p>
        </p:txBody>
      </p:sp>
      <p:sp>
        <p:nvSpPr>
          <p:cNvPr id="3" name="Text 0"/>
          <p:cNvSpPr>
            <a:spLocks noGrp="1"/>
          </p:cNvSpPr>
          <p:nvPr>
            <p:ph type="body" idx="100" hasCustomPrompt="1"/>
          </p:nvPr>
        </p:nvSpPr>
        <p:spPr>
          <a:xfrm>
            <a:off x="0" y="274320"/>
            <a:ext cx="9144000" cy="48768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Threat Sharing and Building Cybersecurity Awareness</a:t>
            </a:r>
            <a:endParaRPr lang="en-US" sz="2200"/>
          </a:p>
        </p:txBody>
      </p:sp>
      <p:sp>
        <p:nvSpPr>
          <p:cNvPr id="5" name="Text 2"/>
          <p:cNvSpPr/>
          <p:nvPr/>
        </p:nvSpPr>
        <p:spPr>
          <a:xfrm>
            <a:off x="226979" y="1208175"/>
            <a:ext cx="8229600" cy="2571750"/>
          </a:xfrm>
          <a:prstGeom prst="rect">
            <a:avLst/>
          </a:prstGeom>
          <a:noFill/>
          <a:ln/>
        </p:spPr>
        <p:txBody>
          <a:bodyPr wrap="square" lIns="91440" tIns="45720" rIns="91440" bIns="45720" rtlCol="0" anchor="t"/>
          <a:lstStyle/>
          <a:p>
            <a:pPr marL="285750" indent="-285750">
              <a:lnSpc>
                <a:spcPts val="2000"/>
              </a:lnSpc>
              <a:buFont typeface="Arial" panose="020B0604020202020204" pitchFamily="34" charset="0"/>
              <a:buChar char="•"/>
            </a:pPr>
            <a:r>
              <a:rPr lang="en-US" sz="1400">
                <a:solidFill>
                  <a:srgbClr val="000000"/>
                </a:solidFill>
                <a:latin typeface="Arial"/>
                <a:ea typeface="Arial" pitchFamily="34" charset="-122"/>
                <a:cs typeface="Arial"/>
              </a:rPr>
              <a:t>Governments are now actively promoting cybersecurity. The US Cybersecurity Infrastructure and Security Agency (CISA) is leading efforts to automate cybersecurity information sharing with public and private organizations at no cost. </a:t>
            </a:r>
            <a:endParaRPr lang="en-US" sz="1400">
              <a:solidFill>
                <a:srgbClr val="000000"/>
              </a:solidFill>
              <a:latin typeface="Arial"/>
              <a:ea typeface="Arial" pitchFamily="34" charset="-122"/>
              <a:cs typeface="Arial" pitchFamily="34" charset="-120"/>
            </a:endParaRPr>
          </a:p>
          <a:p>
            <a:pPr marL="285750" indent="-285750">
              <a:lnSpc>
                <a:spcPts val="2000"/>
              </a:lnSpc>
              <a:buFont typeface="Arial" panose="020B0604020202020204" pitchFamily="34" charset="0"/>
              <a:buChar char="•"/>
            </a:pPr>
            <a:r>
              <a:rPr lang="en-US" sz="1400">
                <a:solidFill>
                  <a:srgbClr val="000000"/>
                </a:solidFill>
                <a:latin typeface="Arial"/>
                <a:ea typeface="Arial" pitchFamily="34" charset="-122"/>
                <a:cs typeface="Arial"/>
              </a:rPr>
              <a:t>CISA uses a system called Automated Indicator Sharing (AIS). AIS enables the sharing of attack indicators between the US government and the private sector as soon as threats are verified.</a:t>
            </a:r>
          </a:p>
          <a:p>
            <a:pPr marL="285750" indent="-285750">
              <a:lnSpc>
                <a:spcPts val="2000"/>
              </a:lnSpc>
              <a:buFont typeface="Arial" panose="020B0604020202020204" pitchFamily="34" charset="0"/>
              <a:buChar char="•"/>
            </a:pPr>
            <a:r>
              <a:rPr lang="en-US" sz="1400">
                <a:solidFill>
                  <a:srgbClr val="000000"/>
                </a:solidFill>
                <a:latin typeface="Arial"/>
                <a:ea typeface="Arial" pitchFamily="34" charset="-122"/>
                <a:cs typeface="Arial"/>
              </a:rPr>
              <a:t>The CISA and the National Cyber Security Alliance (NCSA) promote cybersecurity to all users.</a:t>
            </a:r>
          </a:p>
          <a:p>
            <a:pPr marL="285750" indent="-285750">
              <a:lnSpc>
                <a:spcPts val="2000"/>
              </a:lnSpc>
              <a:buFont typeface="Arial" panose="020B0604020202020204" pitchFamily="34" charset="0"/>
              <a:buChar char="•"/>
            </a:pPr>
            <a:r>
              <a:rPr lang="en-US" sz="1400">
                <a:solidFill>
                  <a:srgbClr val="000000"/>
                </a:solidFill>
                <a:latin typeface="Arial"/>
                <a:ea typeface="Arial" pitchFamily="34" charset="-122"/>
                <a:cs typeface="Arial"/>
              </a:rPr>
              <a:t>The CISA and NCSA have an annual October campaign called “National Cybersecurity Awareness Month” (NCASM). This campaign promotes and raises awareness about cybersecurity.</a:t>
            </a:r>
            <a:endParaRPr lang="en-US" sz="140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Who is Attacking Our Network?</a:t>
            </a:r>
            <a:endParaRPr lang="en-US" sz="1600"/>
          </a:p>
        </p:txBody>
      </p:sp>
      <p:sp>
        <p:nvSpPr>
          <p:cNvPr id="3" name="Text 0"/>
          <p:cNvSpPr>
            <a:spLocks noGrp="1"/>
          </p:cNvSpPr>
          <p:nvPr>
            <p:ph type="body" idx="100" hasCustomPrompt="1"/>
          </p:nvPr>
        </p:nvSpPr>
        <p:spPr>
          <a:xfrm>
            <a:off x="0" y="274320"/>
            <a:ext cx="9144000" cy="50292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Threat Sharing and Building Cybersecurity Awareness (Cont.)</a:t>
            </a:r>
            <a:endParaRPr lang="en-US" sz="2200"/>
          </a:p>
        </p:txBody>
      </p:sp>
      <p:sp>
        <p:nvSpPr>
          <p:cNvPr id="5" name="Text 2"/>
          <p:cNvSpPr/>
          <p:nvPr/>
        </p:nvSpPr>
        <p:spPr>
          <a:xfrm>
            <a:off x="528677" y="1051560"/>
            <a:ext cx="7795098" cy="3052540"/>
          </a:xfrm>
          <a:prstGeom prst="rect">
            <a:avLst/>
          </a:prstGeom>
          <a:noFill/>
          <a:ln/>
        </p:spPr>
        <p:txBody>
          <a:bodyPr wrap="square" lIns="91440" tIns="45720" rIns="91440" bIns="45720" rtlCol="0" anchor="t"/>
          <a:lstStyle/>
          <a:p>
            <a:pPr marL="285750" indent="-285750">
              <a:lnSpc>
                <a:spcPts val="2000"/>
              </a:lnSpc>
              <a:buFont typeface="Arial" panose="020B0604020202020204" pitchFamily="34" charset="0"/>
              <a:buChar char="•"/>
            </a:pPr>
            <a:r>
              <a:rPr lang="en-US" sz="1400">
                <a:solidFill>
                  <a:srgbClr val="000000"/>
                </a:solidFill>
                <a:latin typeface="Arial"/>
                <a:ea typeface="Arial" pitchFamily="34" charset="-122"/>
                <a:cs typeface="Arial"/>
              </a:rPr>
              <a:t>The CISA and NCSA have an annual campaign every October called “National Cybersecurity Awareness Month” (NCASM). The campaign provides material on a wide variety of security topics, including:</a:t>
            </a:r>
          </a:p>
          <a:p>
            <a:pPr marL="285750" indent="-285750">
              <a:lnSpc>
                <a:spcPts val="2000"/>
              </a:lnSpc>
              <a:buFont typeface="Arial" panose="020B0604020202020204" pitchFamily="34" charset="0"/>
              <a:buChar char="•"/>
            </a:pPr>
            <a:endParaRPr lang="en-US" sz="1400">
              <a:solidFill>
                <a:srgbClr val="000000"/>
              </a:solidFill>
              <a:latin typeface="Arial" pitchFamily="34" charset="0"/>
              <a:ea typeface="Arial" pitchFamily="34" charset="-122"/>
              <a:cs typeface="Arial" pitchFamily="34" charset="-120"/>
            </a:endParaRPr>
          </a:p>
          <a:p>
            <a:pPr marL="742950" lvl="1" indent="-285750">
              <a:lnSpc>
                <a:spcPts val="2000"/>
              </a:lnSpc>
              <a:buFont typeface="Arial" panose="020B0604020202020204" pitchFamily="34" charset="0"/>
              <a:buChar char="•"/>
            </a:pPr>
            <a:r>
              <a:rPr lang="en-US" sz="1400">
                <a:solidFill>
                  <a:srgbClr val="000000"/>
                </a:solidFill>
                <a:latin typeface="Arial"/>
                <a:ea typeface="Arial" pitchFamily="34" charset="-122"/>
                <a:cs typeface="Arial"/>
              </a:rPr>
              <a:t>Social media safety</a:t>
            </a:r>
          </a:p>
          <a:p>
            <a:pPr marL="742950" lvl="1" indent="-285750">
              <a:lnSpc>
                <a:spcPts val="2000"/>
              </a:lnSpc>
              <a:buFont typeface="Arial" panose="020B0604020202020204" pitchFamily="34" charset="0"/>
              <a:buChar char="•"/>
            </a:pPr>
            <a:r>
              <a:rPr lang="en-US" sz="1400">
                <a:solidFill>
                  <a:srgbClr val="000000"/>
                </a:solidFill>
                <a:latin typeface="Arial"/>
                <a:ea typeface="Arial" pitchFamily="34" charset="-122"/>
                <a:cs typeface="Arial"/>
              </a:rPr>
              <a:t>Updating privacy settings</a:t>
            </a:r>
          </a:p>
          <a:p>
            <a:pPr marL="742950" lvl="1" indent="-285750">
              <a:lnSpc>
                <a:spcPts val="2000"/>
              </a:lnSpc>
              <a:buFont typeface="Arial" panose="020B0604020202020204" pitchFamily="34" charset="0"/>
              <a:buChar char="•"/>
            </a:pPr>
            <a:r>
              <a:rPr lang="en-US" sz="1400">
                <a:solidFill>
                  <a:srgbClr val="000000"/>
                </a:solidFill>
                <a:latin typeface="Arial"/>
                <a:ea typeface="Arial" pitchFamily="34" charset="-122"/>
                <a:cs typeface="Arial"/>
              </a:rPr>
              <a:t>Awareness of device app security</a:t>
            </a:r>
          </a:p>
          <a:p>
            <a:pPr marL="742950" lvl="1" indent="-285750">
              <a:lnSpc>
                <a:spcPts val="2000"/>
              </a:lnSpc>
              <a:buFont typeface="Arial" panose="020B0604020202020204" pitchFamily="34" charset="0"/>
              <a:buChar char="•"/>
            </a:pPr>
            <a:r>
              <a:rPr lang="en-US" sz="1400">
                <a:solidFill>
                  <a:srgbClr val="000000"/>
                </a:solidFill>
                <a:latin typeface="Arial"/>
                <a:ea typeface="Arial" pitchFamily="34" charset="-122"/>
                <a:cs typeface="Arial"/>
              </a:rPr>
              <a:t>Keeping software up-to-date</a:t>
            </a:r>
          </a:p>
          <a:p>
            <a:pPr marL="742950" lvl="1" indent="-285750">
              <a:lnSpc>
                <a:spcPts val="2000"/>
              </a:lnSpc>
              <a:buFont typeface="Arial" panose="020B0604020202020204" pitchFamily="34" charset="0"/>
              <a:buChar char="•"/>
            </a:pPr>
            <a:r>
              <a:rPr lang="en-US" sz="1400">
                <a:solidFill>
                  <a:srgbClr val="000000"/>
                </a:solidFill>
                <a:latin typeface="Arial"/>
                <a:ea typeface="Arial" pitchFamily="34" charset="-122"/>
                <a:cs typeface="Arial"/>
              </a:rPr>
              <a:t>Safe online shopping</a:t>
            </a:r>
          </a:p>
          <a:p>
            <a:pPr marL="742950" lvl="1" indent="-285750">
              <a:lnSpc>
                <a:spcPts val="2000"/>
              </a:lnSpc>
              <a:buFont typeface="Arial" panose="020B0604020202020204" pitchFamily="34" charset="0"/>
              <a:buChar char="•"/>
            </a:pPr>
            <a:r>
              <a:rPr lang="en-US" sz="1400">
                <a:solidFill>
                  <a:srgbClr val="000000"/>
                </a:solidFill>
                <a:latin typeface="Arial"/>
                <a:ea typeface="Arial" pitchFamily="34" charset="-122"/>
                <a:cs typeface="Arial"/>
              </a:rPr>
              <a:t>Wi-Fi safety</a:t>
            </a:r>
          </a:p>
          <a:p>
            <a:pPr marL="742950" lvl="1" indent="-285750">
              <a:lnSpc>
                <a:spcPts val="2000"/>
              </a:lnSpc>
              <a:buFont typeface="Arial" panose="020B0604020202020204" pitchFamily="34" charset="0"/>
              <a:buChar char="•"/>
            </a:pPr>
            <a:r>
              <a:rPr lang="en-US" sz="1400">
                <a:solidFill>
                  <a:srgbClr val="000000"/>
                </a:solidFill>
                <a:latin typeface="Arial"/>
                <a:ea typeface="Arial" pitchFamily="34" charset="-122"/>
                <a:cs typeface="Arial"/>
              </a:rPr>
              <a:t>Protecting customer data</a:t>
            </a:r>
          </a:p>
          <a:p>
            <a:pPr marL="285750" indent="-285750">
              <a:lnSpc>
                <a:spcPts val="2000"/>
              </a:lnSpc>
              <a:buFont typeface="Arial" panose="020B0604020202020204" pitchFamily="34" charset="0"/>
              <a:buChar char="•"/>
            </a:pPr>
            <a:endParaRPr lang="en-US" sz="1400">
              <a:solidFill>
                <a:srgbClr val="000000"/>
              </a:solidFill>
              <a:latin typeface="Arial" pitchFamily="34" charset="0"/>
              <a:ea typeface="Arial" pitchFamily="34" charset="-122"/>
              <a:cs typeface="Arial" pitchFamily="34" charset="-120"/>
            </a:endParaRPr>
          </a:p>
          <a:p>
            <a:pPr>
              <a:lnSpc>
                <a:spcPts val="2000"/>
              </a:lnSpc>
            </a:pPr>
            <a:endParaRPr lang="en-US" sz="1400">
              <a:solidFill>
                <a:srgbClr val="000000"/>
              </a:solidFill>
              <a:latin typeface="Arial" pitchFamily="34" charset="0"/>
              <a:ea typeface="Arial" pitchFamily="34" charset="-122"/>
              <a:cs typeface="Arial" pitchFamily="34" charset="-120"/>
            </a:endParaRPr>
          </a:p>
          <a:p>
            <a:pPr>
              <a:lnSpc>
                <a:spcPts val="2000"/>
              </a:lnSpc>
            </a:pPr>
            <a:endParaRPr lang="en-US" sz="140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27</a:t>
            </a:fld>
            <a:endParaRPr lang="en-US"/>
          </a:p>
        </p:txBody>
      </p:sp>
    </p:spTree>
    <p:extLst>
      <p:ext uri="{BB962C8B-B14F-4D97-AF65-F5344CB8AC3E}">
        <p14:creationId xmlns:p14="http://schemas.microsoft.com/office/powerpoint/2010/main" val="21937782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399"/>
            <a:ext cx="8229600" cy="1555595"/>
          </a:xfrm>
          <a:prstGeom prst="rect">
            <a:avLst/>
          </a:prstGeom>
          <a:noFill/>
          <a:ln/>
        </p:spPr>
        <p:txBody>
          <a:bodyPr wrap="square" rtlCol="0"/>
          <a:lstStyle/>
          <a:p>
            <a:pPr marL="0" indent="0">
              <a:buNone/>
            </a:pPr>
            <a:r>
              <a:rPr lang="en-US" sz="4600" dirty="0">
                <a:solidFill>
                  <a:srgbClr val="B1E8FA"/>
                </a:solidFill>
                <a:latin typeface="Arial" pitchFamily="34" charset="0"/>
                <a:ea typeface="Arial" pitchFamily="34" charset="-122"/>
                <a:cs typeface="Arial" pitchFamily="34" charset="-120"/>
              </a:rPr>
              <a:t>2.3 Securing Networks Summary</a:t>
            </a:r>
            <a:endParaRPr lang="en-US" sz="4600" dirty="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Securing Networks Summary</a:t>
            </a:r>
            <a:endParaRPr lang="en-US" sz="1600"/>
          </a:p>
        </p:txBody>
      </p:sp>
      <p:sp>
        <p:nvSpPr>
          <p:cNvPr id="3" name="Text 0"/>
          <p:cNvSpPr>
            <a:spLocks noGrp="1"/>
          </p:cNvSpPr>
          <p:nvPr>
            <p:ph type="body" idx="100" hasCustomPrompt="1"/>
          </p:nvPr>
        </p:nvSpPr>
        <p:spPr>
          <a:xfrm>
            <a:off x="0" y="274320"/>
            <a:ext cx="9144000" cy="50292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What Did I Learn in this Module?</a:t>
            </a:r>
            <a:endParaRPr lang="en-US" sz="2200"/>
          </a:p>
        </p:txBody>
      </p:sp>
      <p:sp>
        <p:nvSpPr>
          <p:cNvPr id="5" name="Text 2"/>
          <p:cNvSpPr/>
          <p:nvPr/>
        </p:nvSpPr>
        <p:spPr>
          <a:xfrm>
            <a:off x="136187" y="1051560"/>
            <a:ext cx="8550613" cy="3583305"/>
          </a:xfrm>
          <a:prstGeom prst="rect">
            <a:avLst/>
          </a:prstGeom>
          <a:noFill/>
          <a:ln/>
        </p:spPr>
        <p:txBody>
          <a:bodyPr wrap="square" lIns="91440" tIns="45720" rIns="91440" bIns="45720" rtlCol="0" anchor="t"/>
          <a:lstStyle/>
          <a:p>
            <a:pPr marL="285750" indent="-285750">
              <a:lnSpc>
                <a:spcPts val="2000"/>
              </a:lnSpc>
              <a:buFont typeface="Arial" panose="020B0604020202020204" pitchFamily="34" charset="0"/>
              <a:buChar char="•"/>
            </a:pPr>
            <a:r>
              <a:rPr lang="en-US" sz="1400">
                <a:latin typeface="Arial"/>
                <a:cs typeface="Arial"/>
              </a:rPr>
              <a:t>Network security relates directly to an organization's business continuity. </a:t>
            </a:r>
            <a:endParaRPr lang="en-US" sz="1400">
              <a:latin typeface="Arial" panose="020B0604020202020204" pitchFamily="34" charset="0"/>
              <a:cs typeface="Arial" panose="020B0604020202020204" pitchFamily="34" charset="0"/>
            </a:endParaRPr>
          </a:p>
          <a:p>
            <a:pPr marL="285750" indent="-285750">
              <a:lnSpc>
                <a:spcPts val="2000"/>
              </a:lnSpc>
              <a:buFont typeface="Arial" panose="020B0604020202020204" pitchFamily="34" charset="0"/>
              <a:buChar char="•"/>
            </a:pPr>
            <a:r>
              <a:rPr lang="en-US" sz="1400">
                <a:latin typeface="Arial"/>
                <a:cs typeface="Arial"/>
              </a:rPr>
              <a:t>Network security breaches can disrupt e-commerce, cause the loss of business data, threaten people's privacy, and compromise the integrity of information. </a:t>
            </a:r>
            <a:endParaRPr lang="en-US" sz="1400">
              <a:latin typeface="Arial" panose="020B0604020202020204" pitchFamily="34" charset="0"/>
              <a:cs typeface="Arial" panose="020B0604020202020204" pitchFamily="34" charset="0"/>
            </a:endParaRPr>
          </a:p>
          <a:p>
            <a:pPr marL="285750" indent="-285750">
              <a:lnSpc>
                <a:spcPts val="2000"/>
              </a:lnSpc>
              <a:buFont typeface="Arial" panose="020B0604020202020204" pitchFamily="34" charset="0"/>
              <a:buChar char="•"/>
            </a:pPr>
            <a:r>
              <a:rPr lang="en-US" sz="1400">
                <a:latin typeface="Arial"/>
                <a:cs typeface="Arial"/>
              </a:rPr>
              <a:t>Many tools, including the Cisco Talos Intelligence Group, are available to help network administrators adapt, develop, and implement threat mitigation techniques. </a:t>
            </a:r>
            <a:endParaRPr lang="en-US" sz="1400">
              <a:latin typeface="Arial" panose="020B0604020202020204" pitchFamily="34" charset="0"/>
              <a:cs typeface="Arial" panose="020B0604020202020204" pitchFamily="34" charset="0"/>
            </a:endParaRPr>
          </a:p>
          <a:p>
            <a:pPr marL="285750" indent="-285750">
              <a:lnSpc>
                <a:spcPts val="2000"/>
              </a:lnSpc>
              <a:buFont typeface="Arial" panose="020B0604020202020204" pitchFamily="34" charset="0"/>
              <a:buChar char="•"/>
            </a:pPr>
            <a:r>
              <a:rPr lang="en-US" sz="1400">
                <a:latin typeface="Arial"/>
                <a:cs typeface="Arial"/>
              </a:rPr>
              <a:t>An attack vector is a path by which a threat actor can access a server, host, or network.</a:t>
            </a:r>
          </a:p>
          <a:p>
            <a:pPr marL="285750" indent="-285750">
              <a:lnSpc>
                <a:spcPts val="2000"/>
              </a:lnSpc>
              <a:buFont typeface="Arial" panose="020B0604020202020204" pitchFamily="34" charset="0"/>
              <a:buChar char="•"/>
            </a:pPr>
            <a:r>
              <a:rPr lang="en-US" sz="1400">
                <a:latin typeface="Arial"/>
                <a:cs typeface="Arial"/>
              </a:rPr>
              <a:t>Risk management is the process that balances the operational costs of providing protective measures with the gains achieved by protecting the asset. </a:t>
            </a:r>
          </a:p>
          <a:p>
            <a:pPr marL="285750" indent="-285750">
              <a:lnSpc>
                <a:spcPts val="2000"/>
              </a:lnSpc>
              <a:buFont typeface="Arial" panose="020B0604020202020204" pitchFamily="34" charset="0"/>
              <a:buChar char="•"/>
            </a:pPr>
            <a:r>
              <a:rPr lang="en-US" sz="1400">
                <a:latin typeface="Arial"/>
                <a:cs typeface="Arial"/>
              </a:rPr>
              <a:t>Hacker is a term used to describe a threat actor. Threat actors include script kiddies, vulnerability brokers, hacktivists, cybercriminals, and state-sponsored hackers. </a:t>
            </a:r>
            <a:endParaRPr lang="en-US" sz="1400">
              <a:latin typeface="Arial" panose="020B0604020202020204" pitchFamily="34" charset="0"/>
              <a:cs typeface="Arial" panose="020B0604020202020204" pitchFamily="34" charset="0"/>
            </a:endParaRPr>
          </a:p>
          <a:p>
            <a:pPr marL="285750" indent="-285750">
              <a:lnSpc>
                <a:spcPts val="2000"/>
              </a:lnSpc>
              <a:buFont typeface="Arial" panose="020B0604020202020204" pitchFamily="34" charset="0"/>
              <a:buChar char="•"/>
            </a:pPr>
            <a:r>
              <a:rPr lang="en-US" sz="1400">
                <a:latin typeface="Arial"/>
                <a:cs typeface="Arial"/>
              </a:rPr>
              <a:t>Many network attacks can be prevented by sharing information about IOCs. Many governments are promoting cybersecurity. CISA and NCSA are examples of such organizations.</a:t>
            </a: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name="Slide 27">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Module </a:t>
            </a:r>
            <a:r>
              <a:rPr lang="en-US" dirty="0"/>
              <a:t>2</a:t>
            </a:r>
            <a:endParaRPr lang="en-US" sz="1600" dirty="0"/>
          </a:p>
        </p:txBody>
      </p:sp>
      <p:sp>
        <p:nvSpPr>
          <p:cNvPr id="3" name="Text 0"/>
          <p:cNvSpPr>
            <a:spLocks noGrp="1"/>
          </p:cNvSpPr>
          <p:nvPr>
            <p:ph type="body" idx="100" hasCustomPrompt="1"/>
          </p:nvPr>
        </p:nvSpPr>
        <p:spPr>
          <a:xfrm>
            <a:off x="0" y="274320"/>
            <a:ext cx="9144000" cy="446216"/>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New Terms and Commands</a:t>
            </a:r>
            <a:endParaRPr lang="en-US" sz="2200"/>
          </a:p>
        </p:txBody>
      </p:sp>
      <p:sp>
        <p:nvSpPr>
          <p:cNvPr id="5" name="Text 2"/>
          <p:cNvSpPr/>
          <p:nvPr/>
        </p:nvSpPr>
        <p:spPr>
          <a:xfrm>
            <a:off x="557719" y="1002476"/>
            <a:ext cx="7665396" cy="3234244"/>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sz="1400">
                <a:solidFill>
                  <a:srgbClr val="000000"/>
                </a:solidFill>
                <a:latin typeface="Arial" pitchFamily="34" charset="0"/>
                <a:ea typeface="Arial" pitchFamily="34" charset="-122"/>
                <a:cs typeface="Arial" pitchFamily="34" charset="-120"/>
              </a:rPr>
              <a:t>Cisco Talos Intelligence Group</a:t>
            </a:r>
          </a:p>
          <a:p>
            <a:pPr marL="285750" indent="-285750">
              <a:lnSpc>
                <a:spcPts val="2000"/>
              </a:lnSpc>
              <a:buFont typeface="Arial" panose="020B0604020202020204" pitchFamily="34" charset="0"/>
              <a:buChar char="•"/>
            </a:pPr>
            <a:r>
              <a:rPr lang="en-US" sz="1400">
                <a:solidFill>
                  <a:srgbClr val="000000"/>
                </a:solidFill>
                <a:latin typeface="Arial" pitchFamily="34" charset="0"/>
                <a:cs typeface="Arial" pitchFamily="34" charset="-120"/>
              </a:rPr>
              <a:t>Cisco Product Security Incident Response Team (PSIRT)</a:t>
            </a:r>
          </a:p>
          <a:p>
            <a:pPr marL="285750" indent="-285750">
              <a:lnSpc>
                <a:spcPts val="2000"/>
              </a:lnSpc>
              <a:buFont typeface="Arial" panose="020B0604020202020204" pitchFamily="34" charset="0"/>
              <a:buChar char="•"/>
            </a:pPr>
            <a:r>
              <a:rPr lang="en-US" sz="1400">
                <a:solidFill>
                  <a:srgbClr val="000000"/>
                </a:solidFill>
                <a:latin typeface="Arial" pitchFamily="34" charset="0"/>
                <a:cs typeface="Arial" pitchFamily="34" charset="-120"/>
              </a:rPr>
              <a:t>Attack vector</a:t>
            </a:r>
          </a:p>
          <a:p>
            <a:pPr marL="285750" indent="-285750">
              <a:lnSpc>
                <a:spcPts val="2000"/>
              </a:lnSpc>
              <a:buFont typeface="Arial" panose="020B0604020202020204" pitchFamily="34" charset="0"/>
              <a:buChar char="•"/>
            </a:pPr>
            <a:r>
              <a:rPr lang="en-US" sz="1400">
                <a:solidFill>
                  <a:srgbClr val="000000"/>
                </a:solidFill>
                <a:latin typeface="Arial" pitchFamily="34" charset="0"/>
                <a:cs typeface="Arial" pitchFamily="34" charset="-120"/>
              </a:rPr>
              <a:t>White hat hacker, Black hat hacker, and Grey hat hacker</a:t>
            </a:r>
          </a:p>
          <a:p>
            <a:pPr marL="285750" indent="-285750">
              <a:lnSpc>
                <a:spcPts val="2000"/>
              </a:lnSpc>
              <a:buFont typeface="Arial" panose="020B0604020202020204" pitchFamily="34" charset="0"/>
              <a:buChar char="•"/>
            </a:pPr>
            <a:r>
              <a:rPr lang="en-US" sz="1400">
                <a:solidFill>
                  <a:srgbClr val="000000"/>
                </a:solidFill>
                <a:latin typeface="Arial" pitchFamily="34" charset="0"/>
                <a:cs typeface="Arial" pitchFamily="34" charset="-120"/>
              </a:rPr>
              <a:t>Script kiddies, Vulnerability brokers, Hacktivists, Cybercriminals, and State-Sponsored hackers</a:t>
            </a:r>
          </a:p>
          <a:p>
            <a:pPr marL="285750" indent="-285750">
              <a:lnSpc>
                <a:spcPts val="2000"/>
              </a:lnSpc>
              <a:buFont typeface="Arial" panose="020B0604020202020204" pitchFamily="34" charset="0"/>
              <a:buChar char="•"/>
            </a:pPr>
            <a:r>
              <a:rPr lang="en-US" sz="1400">
                <a:solidFill>
                  <a:srgbClr val="000000"/>
                </a:solidFill>
                <a:latin typeface="Arial" pitchFamily="34" charset="0"/>
                <a:cs typeface="Arial" pitchFamily="34" charset="-120"/>
              </a:rPr>
              <a:t>US Cybersecurity Infrastructure and Security Agency (CISA)</a:t>
            </a:r>
          </a:p>
          <a:p>
            <a:pPr marL="285750" indent="-285750">
              <a:lnSpc>
                <a:spcPts val="2000"/>
              </a:lnSpc>
              <a:buFont typeface="Arial" panose="020B0604020202020204" pitchFamily="34" charset="0"/>
              <a:buChar char="•"/>
            </a:pPr>
            <a:r>
              <a:rPr lang="en-US" sz="1400">
                <a:solidFill>
                  <a:srgbClr val="000000"/>
                </a:solidFill>
                <a:latin typeface="Arial" pitchFamily="34" charset="0"/>
                <a:cs typeface="Arial" pitchFamily="34" charset="-120"/>
              </a:rPr>
              <a:t>Automated Indicator Sharing (AIS)</a:t>
            </a:r>
          </a:p>
          <a:p>
            <a:pPr marL="285750" indent="-285750">
              <a:lnSpc>
                <a:spcPts val="2000"/>
              </a:lnSpc>
              <a:buFont typeface="Arial" panose="020B0604020202020204" pitchFamily="34" charset="0"/>
              <a:buChar char="•"/>
            </a:pPr>
            <a:r>
              <a:rPr lang="en-US" sz="1400">
                <a:solidFill>
                  <a:srgbClr val="000000"/>
                </a:solidFill>
                <a:latin typeface="Arial" pitchFamily="34" charset="0"/>
                <a:cs typeface="Arial" pitchFamily="34" charset="-120"/>
              </a:rPr>
              <a:t>Indicators of attack (IOA)</a:t>
            </a:r>
          </a:p>
          <a:p>
            <a:pPr marL="285750" indent="-285750">
              <a:lnSpc>
                <a:spcPts val="2000"/>
              </a:lnSpc>
              <a:buFont typeface="Arial" panose="020B0604020202020204" pitchFamily="34" charset="0"/>
              <a:buChar char="•"/>
            </a:pPr>
            <a:r>
              <a:rPr lang="en-US" sz="1400">
                <a:solidFill>
                  <a:srgbClr val="000000"/>
                </a:solidFill>
                <a:latin typeface="Arial" pitchFamily="34" charset="0"/>
                <a:cs typeface="Arial" pitchFamily="34" charset="-120"/>
              </a:rPr>
              <a:t>The CISA and the National Cyber Security Alliance (NCSA)</a:t>
            </a:r>
          </a:p>
          <a:p>
            <a:pPr marL="285750" indent="-285750">
              <a:lnSpc>
                <a:spcPts val="2000"/>
              </a:lnSpc>
              <a:buFont typeface="Arial" panose="020B0604020202020204" pitchFamily="34" charset="0"/>
              <a:buChar char="•"/>
            </a:pPr>
            <a:r>
              <a:rPr lang="en-US" sz="1400">
                <a:solidFill>
                  <a:srgbClr val="000000"/>
                </a:solidFill>
                <a:latin typeface="Arial" pitchFamily="34" charset="0"/>
                <a:cs typeface="Arial" pitchFamily="34" charset="-120"/>
              </a:rPr>
              <a:t>The European Union Agency for Cybersecurity (ENISA)</a:t>
            </a: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30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663c561b-9ed7-4eff-a44a-420ee4b9be56">
      <Terms xmlns="http://schemas.microsoft.com/office/infopath/2007/PartnerControls"/>
    </lcf76f155ced4ddcb4097134ff3c332f>
    <TaxCatchAll xmlns="4596d6c2-6208-40c1-97d7-a7a8de7b2e7e" xsi:nil="true"/>
    <SharedWithUsers xmlns="4596d6c2-6208-40c1-97d7-a7a8de7b2e7e">
      <UserInfo>
        <DisplayName/>
        <AccountId xsi:nil="true"/>
        <AccountType/>
      </UserInfo>
    </SharedWithUsers>
    <MediaLengthInSeconds xmlns="663c561b-9ed7-4eff-a44a-420ee4b9be56"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372FA7496D6DA479E8285E92D89F7A2" ma:contentTypeVersion="15" ma:contentTypeDescription="Create a new document." ma:contentTypeScope="" ma:versionID="cc03c34962dc7a1ce1ea79212ad1f1fe">
  <xsd:schema xmlns:xsd="http://www.w3.org/2001/XMLSchema" xmlns:xs="http://www.w3.org/2001/XMLSchema" xmlns:p="http://schemas.microsoft.com/office/2006/metadata/properties" xmlns:ns2="4596d6c2-6208-40c1-97d7-a7a8de7b2e7e" xmlns:ns3="663c561b-9ed7-4eff-a44a-420ee4b9be56" targetNamespace="http://schemas.microsoft.com/office/2006/metadata/properties" ma:root="true" ma:fieldsID="f297ccd91f930ebf464e3ef2d8f03a81" ns2:_="" ns3:_="">
    <xsd:import namespace="4596d6c2-6208-40c1-97d7-a7a8de7b2e7e"/>
    <xsd:import namespace="663c561b-9ed7-4eff-a44a-420ee4b9be56"/>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lcf76f155ced4ddcb4097134ff3c332f" minOccurs="0"/>
                <xsd:element ref="ns2:TaxCatchAll"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596d6c2-6208-40c1-97d7-a7a8de7b2e7e"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4744fc2b-25fb-49a1-97aa-3319922cdb6c}" ma:internalName="TaxCatchAll" ma:showField="CatchAllData" ma:web="4596d6c2-6208-40c1-97d7-a7a8de7b2e7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663c561b-9ed7-4eff-a44a-420ee4b9be56"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710261dd-85c0-4e16-8580-30375acfae1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784AB02-D3EF-4165-AC01-612ABF5E2172}">
  <ds:schemaRefs>
    <ds:schemaRef ds:uri="http://schemas.microsoft.com/sharepoint/v3/contenttype/forms"/>
  </ds:schemaRefs>
</ds:datastoreItem>
</file>

<file path=customXml/itemProps2.xml><?xml version="1.0" encoding="utf-8"?>
<ds:datastoreItem xmlns:ds="http://schemas.openxmlformats.org/officeDocument/2006/customXml" ds:itemID="{AA69AFC7-905F-4D0E-BD61-55DBA416AD69}">
  <ds:schemaRefs>
    <ds:schemaRef ds:uri="http://purl.org/dc/terms/"/>
    <ds:schemaRef ds:uri="http://schemas.microsoft.com/office/2006/documentManagement/types"/>
    <ds:schemaRef ds:uri="http://purl.org/dc/elements/1.1/"/>
    <ds:schemaRef ds:uri="http://schemas.microsoft.com/office/2006/metadata/properties"/>
    <ds:schemaRef ds:uri="http://purl.org/dc/dcmitype/"/>
    <ds:schemaRef ds:uri="http://www.w3.org/XML/1998/namespace"/>
    <ds:schemaRef ds:uri="20a0b39e-fcd0-423b-9f17-9d26d967be51"/>
    <ds:schemaRef ds:uri="http://schemas.microsoft.com/office/infopath/2007/PartnerControls"/>
    <ds:schemaRef ds:uri="http://schemas.openxmlformats.org/package/2006/metadata/core-properties"/>
    <ds:schemaRef ds:uri="810553ce-449d-4340-bb0a-414d416a9b51"/>
  </ds:schemaRefs>
</ds:datastoreItem>
</file>

<file path=customXml/itemProps3.xml><?xml version="1.0" encoding="utf-8"?>
<ds:datastoreItem xmlns:ds="http://schemas.openxmlformats.org/officeDocument/2006/customXml" ds:itemID="{10E76882-522E-4F24-81E0-E685E915D7CC}"/>
</file>

<file path=docProps/app.xml><?xml version="1.0" encoding="utf-8"?>
<Properties xmlns="http://schemas.openxmlformats.org/officeDocument/2006/extended-properties" xmlns:vt="http://schemas.openxmlformats.org/officeDocument/2006/docPropsVTypes">
  <TotalTime>0</TotalTime>
  <Words>3429</Words>
  <Application>Microsoft Office PowerPoint</Application>
  <PresentationFormat>On-screen Show (16:9)</PresentationFormat>
  <Paragraphs>357</Paragraphs>
  <Slides>30</Slides>
  <Notes>30</Notes>
  <HiddenSlides>8</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Anna Bolen -X (abolen - UNICON INC at Cisco)</cp:lastModifiedBy>
  <cp:revision>1</cp:revision>
  <dcterms:created xsi:type="dcterms:W3CDTF">2022-10-03T22:07:09Z</dcterms:created>
  <dcterms:modified xsi:type="dcterms:W3CDTF">2023-03-30T15:40:13Z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0x010100198F9F34832A35489A19D5E200F54CC8</vt:lpwstr>
  </property>
  <property fmtid="{D5CDD505-2E9C-101B-9397-08002B2CF9AE}" pid="3" name="MediaServiceImageTags">
    <vt:lpwstr/>
  </property>
  <property fmtid="{D5CDD505-2E9C-101B-9397-08002B2CF9AE}" pid="4" name="Order">
    <vt:r8>2104700</vt:r8>
  </property>
  <property fmtid="{D5CDD505-2E9C-101B-9397-08002B2CF9AE}" pid="5" name="xd_Signature">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